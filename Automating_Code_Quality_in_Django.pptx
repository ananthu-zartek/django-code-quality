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quality here means consistent style, fewer avoidable mistakes, and code that is easier to maintain. The repository intentionally contains unused imports, formatting drift, and a type mismatch so the checks have concrete failures to demonstrate.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Ruff is used for both linting and formatting. Its selected rule groups cover pycodestyle errors and warnings, Pyflakes, import sorting, comprehension patterns, and bugbear. Mypy uses django-stubs. CI/CD means the GitHub Actions workflow runs these commands without relying on each developer to remember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pyproject.toml is the single source for the Ruff and Mypy settings. Ruff targets Python 3.14, uses an 88-character line length, and excludes migrations. Mypy loads the Django plugin and points django-stubs at config.settings. The quality dependencies are pinned separately from runtime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deliberately leaves this view in a failing state. Ruff also finds unused imports in core/admin.py and core/models.py, and Ruff format --check flags several files. The workflow runs Ruff first, so a failed Ruff step prevents later steps from executing in that run. Once fixed, Mypy reveals the payload annotation mismatch. The endpoint returns valid JSON and its test passes, showing why tests and static checks complement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YAML runs on pushes and pull requests to main and master. It checks out the repository, sets up Python 3.14, installs runtime and quality requirements, then runs five checks in order. A nonzero exit code fails the job; the later commands do not run after a failed step. Developers can use Ruff's fix and format commands locally, edit Mypy issues manually, rerun the checks, and push another commit. This repository does not define branch protection rules, so do not claim a merge is automatically blocked.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applies to other Django projects and Python backend services. Keep tool versions pinned, make local and CI commands match, and plan for existing code that already violates the new rules. This project excludes migrations and ignores E501 and B008, which are explicit policy choices. The key takeaway is that fast, repeatable checks make maintenance and review easier while tests continue to validate behavior.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5448" cy="6858000"/>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6656" y="585216"/>
            <a:ext cx="5943600" cy="274320"/>
          </a:xfrm>
          <a:prstGeom prst="rect">
            <a:avLst/>
          </a:prstGeom>
          <a:noFill/>
        </p:spPr>
        <p:txBody>
          <a:bodyPr wrap="square" lIns="27432" rIns="27432" tIns="27432" bIns="27432" anchor="t">
            <a:spAutoFit/>
          </a:bodyPr>
          <a:lstStyle/>
          <a:p>
            <a:pPr>
              <a:spcAft>
                <a:spcPts val="0"/>
              </a:spcAft>
              <a:defRPr sz="1100" b="1">
                <a:solidFill>
                  <a:srgbClr val="71E2D4"/>
                </a:solidFill>
                <a:latin typeface="Aptos"/>
              </a:defRPr>
            </a:pPr>
            <a:r>
              <a:t>ENGINEERING KNOWLEDGE SHARE</a:t>
            </a:r>
          </a:p>
        </p:txBody>
      </p:sp>
      <p:sp>
        <p:nvSpPr>
          <p:cNvPr id="5" name="TextBox 4"/>
          <p:cNvSpPr txBox="1"/>
          <p:nvPr/>
        </p:nvSpPr>
        <p:spPr>
          <a:xfrm>
            <a:off x="676656" y="1143000"/>
            <a:ext cx="10698480" cy="1417320"/>
          </a:xfrm>
          <a:prstGeom prst="rect">
            <a:avLst/>
          </a:prstGeom>
          <a:noFill/>
        </p:spPr>
        <p:txBody>
          <a:bodyPr wrap="square" lIns="27432" rIns="27432" tIns="27432" bIns="27432" anchor="t">
            <a:spAutoFit/>
          </a:bodyPr>
          <a:lstStyle/>
          <a:p>
            <a:pPr>
              <a:spcAft>
                <a:spcPts val="0"/>
              </a:spcAft>
              <a:defRPr sz="3500" b="1">
                <a:solidFill>
                  <a:srgbClr val="FFFFFF"/>
                </a:solidFill>
                <a:latin typeface="Aptos"/>
              </a:defRPr>
            </a:pPr>
            <a:r>
              <a:t>Automating Code Quality</a:t>
            </a:r>
          </a:p>
          <a:p>
            <a:pPr>
              <a:spcAft>
                <a:spcPts val="0"/>
              </a:spcAft>
              <a:defRPr sz="3500" b="1">
                <a:solidFill>
                  <a:srgbClr val="FFFFFF"/>
                </a:solidFill>
                <a:latin typeface="Aptos"/>
              </a:defRPr>
            </a:pPr>
            <a:r>
              <a:t>in Django Projects</a:t>
            </a:r>
          </a:p>
        </p:txBody>
      </p:sp>
      <p:sp>
        <p:nvSpPr>
          <p:cNvPr id="6" name="TextBox 5"/>
          <p:cNvSpPr txBox="1"/>
          <p:nvPr/>
        </p:nvSpPr>
        <p:spPr>
          <a:xfrm>
            <a:off x="713232" y="2788920"/>
            <a:ext cx="9875520" cy="658368"/>
          </a:xfrm>
          <a:prstGeom prst="rect">
            <a:avLst/>
          </a:prstGeom>
          <a:noFill/>
        </p:spPr>
        <p:txBody>
          <a:bodyPr wrap="square" lIns="27432" rIns="27432" tIns="27432" bIns="27432" anchor="t">
            <a:spAutoFit/>
          </a:bodyPr>
          <a:lstStyle/>
          <a:p>
            <a:pPr>
              <a:spcAft>
                <a:spcPts val="0"/>
              </a:spcAft>
              <a:defRPr sz="2000" b="0">
                <a:solidFill>
                  <a:srgbClr val="D2E0ED"/>
                </a:solidFill>
                <a:latin typeface="Aptos"/>
              </a:defRPr>
            </a:pPr>
            <a:r>
              <a:t>Integrating linters, a formatter, type checking, and Django checks into CI</a:t>
            </a:r>
          </a:p>
        </p:txBody>
      </p:sp>
      <p:sp>
        <p:nvSpPr>
          <p:cNvPr id="7" name="Rounded Rectangle 6"/>
          <p:cNvSpPr/>
          <p:nvPr/>
        </p:nvSpPr>
        <p:spPr>
          <a:xfrm>
            <a:off x="713232" y="4279392"/>
            <a:ext cx="3438144" cy="1234440"/>
          </a:xfrm>
          <a:prstGeom prst="roundRect">
            <a:avLst/>
          </a:prstGeom>
          <a:solidFill>
            <a:srgbClr val="18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489704"/>
            <a:ext cx="3017520" cy="256032"/>
          </a:xfrm>
          <a:prstGeom prst="rect">
            <a:avLst/>
          </a:prstGeom>
          <a:noFill/>
        </p:spPr>
        <p:txBody>
          <a:bodyPr wrap="square" lIns="27432" rIns="27432" tIns="27432" bIns="27432" anchor="t">
            <a:spAutoFit/>
          </a:bodyPr>
          <a:lstStyle/>
          <a:p>
            <a:pPr>
              <a:spcAft>
                <a:spcPts val="0"/>
              </a:spcAft>
              <a:defRPr sz="1200" b="1">
                <a:solidFill>
                  <a:srgbClr val="71E2D4"/>
                </a:solidFill>
                <a:latin typeface="Aptos"/>
              </a:defRPr>
            </a:pPr>
            <a:r>
              <a:t>CONSISTENCY</a:t>
            </a:r>
          </a:p>
        </p:txBody>
      </p:sp>
      <p:sp>
        <p:nvSpPr>
          <p:cNvPr id="9" name="TextBox 8"/>
          <p:cNvSpPr txBox="1"/>
          <p:nvPr/>
        </p:nvSpPr>
        <p:spPr>
          <a:xfrm>
            <a:off x="914400" y="4855464"/>
            <a:ext cx="2962656" cy="502920"/>
          </a:xfrm>
          <a:prstGeom prst="rect">
            <a:avLst/>
          </a:prstGeom>
          <a:noFill/>
        </p:spPr>
        <p:txBody>
          <a:bodyPr wrap="square" lIns="27432" rIns="27432" tIns="27432" bIns="27432" anchor="t">
            <a:spAutoFit/>
          </a:bodyPr>
          <a:lstStyle/>
          <a:p>
            <a:pPr>
              <a:spcAft>
                <a:spcPts val="0"/>
              </a:spcAft>
              <a:defRPr sz="1400" b="0">
                <a:solidFill>
                  <a:srgbClr val="FFFFFF"/>
                </a:solidFill>
                <a:latin typeface="Aptos"/>
              </a:defRPr>
            </a:pPr>
            <a:r>
              <a:t>Shared formatting and import rules</a:t>
            </a:r>
          </a:p>
        </p:txBody>
      </p:sp>
      <p:sp>
        <p:nvSpPr>
          <p:cNvPr id="10" name="Rounded Rectangle 9"/>
          <p:cNvSpPr/>
          <p:nvPr/>
        </p:nvSpPr>
        <p:spPr>
          <a:xfrm>
            <a:off x="4462272" y="4279392"/>
            <a:ext cx="3438144" cy="1234440"/>
          </a:xfrm>
          <a:prstGeom prst="roundRect">
            <a:avLst/>
          </a:prstGeom>
          <a:solidFill>
            <a:srgbClr val="18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4489704"/>
            <a:ext cx="3017520" cy="256032"/>
          </a:xfrm>
          <a:prstGeom prst="rect">
            <a:avLst/>
          </a:prstGeom>
          <a:noFill/>
        </p:spPr>
        <p:txBody>
          <a:bodyPr wrap="square" lIns="27432" rIns="27432" tIns="27432" bIns="27432" anchor="t">
            <a:spAutoFit/>
          </a:bodyPr>
          <a:lstStyle/>
          <a:p>
            <a:pPr>
              <a:spcAft>
                <a:spcPts val="0"/>
              </a:spcAft>
              <a:defRPr sz="1200" b="1">
                <a:solidFill>
                  <a:srgbClr val="71E2D4"/>
                </a:solidFill>
                <a:latin typeface="Aptos"/>
              </a:defRPr>
            </a:pPr>
            <a:r>
              <a:t>EARLIER FEEDBACK</a:t>
            </a:r>
          </a:p>
        </p:txBody>
      </p:sp>
      <p:sp>
        <p:nvSpPr>
          <p:cNvPr id="12" name="TextBox 11"/>
          <p:cNvSpPr txBox="1"/>
          <p:nvPr/>
        </p:nvSpPr>
        <p:spPr>
          <a:xfrm>
            <a:off x="4663440" y="4855464"/>
            <a:ext cx="2962656" cy="502920"/>
          </a:xfrm>
          <a:prstGeom prst="rect">
            <a:avLst/>
          </a:prstGeom>
          <a:noFill/>
        </p:spPr>
        <p:txBody>
          <a:bodyPr wrap="square" lIns="27432" rIns="27432" tIns="27432" bIns="27432" anchor="t">
            <a:spAutoFit/>
          </a:bodyPr>
          <a:lstStyle/>
          <a:p>
            <a:pPr>
              <a:spcAft>
                <a:spcPts val="0"/>
              </a:spcAft>
              <a:defRPr sz="1400" b="0">
                <a:solidFill>
                  <a:srgbClr val="FFFFFF"/>
                </a:solidFill>
                <a:latin typeface="Aptos"/>
              </a:defRPr>
            </a:pPr>
            <a:r>
              <a:t>Catch avoidable defects before review</a:t>
            </a:r>
          </a:p>
        </p:txBody>
      </p:sp>
      <p:sp>
        <p:nvSpPr>
          <p:cNvPr id="13" name="Rounded Rectangle 12"/>
          <p:cNvSpPr/>
          <p:nvPr/>
        </p:nvSpPr>
        <p:spPr>
          <a:xfrm>
            <a:off x="8211311" y="4279392"/>
            <a:ext cx="3438144" cy="1234440"/>
          </a:xfrm>
          <a:prstGeom prst="roundRect">
            <a:avLst/>
          </a:prstGeom>
          <a:solidFill>
            <a:srgbClr val="182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4489704"/>
            <a:ext cx="3017520" cy="256032"/>
          </a:xfrm>
          <a:prstGeom prst="rect">
            <a:avLst/>
          </a:prstGeom>
          <a:noFill/>
        </p:spPr>
        <p:txBody>
          <a:bodyPr wrap="square" lIns="27432" rIns="27432" tIns="27432" bIns="27432" anchor="t">
            <a:spAutoFit/>
          </a:bodyPr>
          <a:lstStyle/>
          <a:p>
            <a:pPr>
              <a:spcAft>
                <a:spcPts val="0"/>
              </a:spcAft>
              <a:defRPr sz="1200" b="1">
                <a:solidFill>
                  <a:srgbClr val="71E2D4"/>
                </a:solidFill>
                <a:latin typeface="Aptos"/>
              </a:defRPr>
            </a:pPr>
            <a:r>
              <a:t>MAINTAINABILITY</a:t>
            </a:r>
          </a:p>
        </p:txBody>
      </p:sp>
      <p:sp>
        <p:nvSpPr>
          <p:cNvPr id="15" name="TextBox 14"/>
          <p:cNvSpPr txBox="1"/>
          <p:nvPr/>
        </p:nvSpPr>
        <p:spPr>
          <a:xfrm>
            <a:off x="8412480" y="4855464"/>
            <a:ext cx="2962656" cy="502920"/>
          </a:xfrm>
          <a:prstGeom prst="rect">
            <a:avLst/>
          </a:prstGeom>
          <a:noFill/>
        </p:spPr>
        <p:txBody>
          <a:bodyPr wrap="square" lIns="27432" rIns="27432" tIns="27432" bIns="27432" anchor="t">
            <a:spAutoFit/>
          </a:bodyPr>
          <a:lstStyle/>
          <a:p>
            <a:pPr>
              <a:spcAft>
                <a:spcPts val="0"/>
              </a:spcAft>
              <a:defRPr sz="1400" b="0">
                <a:solidFill>
                  <a:srgbClr val="FFFFFF"/>
                </a:solidFill>
                <a:latin typeface="Aptos"/>
              </a:defRPr>
            </a:pPr>
            <a:r>
              <a:t>Less noise; clearer intent over time</a:t>
            </a:r>
          </a:p>
        </p:txBody>
      </p:sp>
      <p:sp>
        <p:nvSpPr>
          <p:cNvPr id="16" name="TextBox 15"/>
          <p:cNvSpPr txBox="1"/>
          <p:nvPr/>
        </p:nvSpPr>
        <p:spPr>
          <a:xfrm>
            <a:off x="713232" y="6117336"/>
            <a:ext cx="10424160" cy="283464"/>
          </a:xfrm>
          <a:prstGeom prst="rect">
            <a:avLst/>
          </a:prstGeom>
          <a:noFill/>
        </p:spPr>
        <p:txBody>
          <a:bodyPr wrap="square" lIns="27432" rIns="27432" tIns="27432" bIns="27432" anchor="t">
            <a:spAutoFit/>
          </a:bodyPr>
          <a:lstStyle/>
          <a:p>
            <a:pPr>
              <a:spcAft>
                <a:spcPts val="0"/>
              </a:spcAft>
              <a:defRPr sz="1200" b="0">
                <a:solidFill>
                  <a:srgbClr val="B8CCDB"/>
                </a:solidFill>
                <a:latin typeface="Aptos"/>
              </a:defRPr>
            </a:pPr>
            <a:r>
              <a:t>Case study: this repository’s deliberate lint and typing failures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583680" cy="246888"/>
          </a:xfrm>
          <a:prstGeom prst="rect">
            <a:avLst/>
          </a:prstGeom>
          <a:noFill/>
        </p:spPr>
        <p:txBody>
          <a:bodyPr wrap="square" lIns="27432" rIns="27432" tIns="27432" bIns="27432" anchor="t">
            <a:spAutoFit/>
          </a:bodyPr>
          <a:lstStyle/>
          <a:p>
            <a:pPr>
              <a:spcAft>
                <a:spcPts val="0"/>
              </a:spcAft>
              <a:defRPr sz="1000" b="1">
                <a:solidFill>
                  <a:srgbClr val="009E97"/>
                </a:solidFill>
                <a:latin typeface="Aptos"/>
              </a:defRPr>
            </a:pPr>
            <a:r>
              <a:t>DJANGO CODE QUALITY</a:t>
            </a:r>
          </a:p>
        </p:txBody>
      </p:sp>
      <p:sp>
        <p:nvSpPr>
          <p:cNvPr id="4" name="TextBox 3"/>
          <p:cNvSpPr txBox="1"/>
          <p:nvPr/>
        </p:nvSpPr>
        <p:spPr>
          <a:xfrm>
            <a:off x="502920" y="649224"/>
            <a:ext cx="11155680" cy="530352"/>
          </a:xfrm>
          <a:prstGeom prst="rect">
            <a:avLst/>
          </a:prstGeom>
          <a:noFill/>
        </p:spPr>
        <p:txBody>
          <a:bodyPr wrap="square" lIns="27432" rIns="27432" tIns="27432" bIns="27432" anchor="t">
            <a:spAutoFit/>
          </a:bodyPr>
          <a:lstStyle/>
          <a:p>
            <a:pPr>
              <a:spcAft>
                <a:spcPts val="0"/>
              </a:spcAft>
              <a:defRPr sz="2800" b="1">
                <a:solidFill>
                  <a:srgbClr val="0C1C2F"/>
                </a:solidFill>
                <a:latin typeface="Aptos"/>
              </a:defRPr>
            </a:pPr>
            <a:r>
              <a:t>One quality gate, five focused checks</a:t>
            </a:r>
          </a:p>
        </p:txBody>
      </p:sp>
      <p:sp>
        <p:nvSpPr>
          <p:cNvPr id="5" name="Rectangle 4"/>
          <p:cNvSpPr/>
          <p:nvPr/>
        </p:nvSpPr>
        <p:spPr>
          <a:xfrm>
            <a:off x="502920" y="6419088"/>
            <a:ext cx="11183112" cy="11887"/>
          </a:xfrm>
          <a:prstGeom prst="rect">
            <a:avLst/>
          </a:prstGeom>
          <a:solidFill>
            <a:srgbClr val="DA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7315200" cy="201168"/>
          </a:xfrm>
          <a:prstGeom prst="rect">
            <a:avLst/>
          </a:prstGeom>
          <a:noFill/>
        </p:spPr>
        <p:txBody>
          <a:bodyPr wrap="square" lIns="27432" rIns="27432" tIns="27432" bIns="27432" anchor="t">
            <a:spAutoFit/>
          </a:bodyPr>
          <a:lstStyle/>
          <a:p>
            <a:pPr>
              <a:spcAft>
                <a:spcPts val="0"/>
              </a:spcAft>
              <a:defRPr sz="900" b="0">
                <a:solidFill>
                  <a:srgbClr val="546979"/>
                </a:solidFill>
                <a:latin typeface="Aptos"/>
              </a:defRPr>
            </a:pPr>
            <a:r>
              <a:t>SOURCE: project repository  •  October 2026</a:t>
            </a:r>
          </a:p>
        </p:txBody>
      </p:sp>
      <p:sp>
        <p:nvSpPr>
          <p:cNvPr id="7" name="TextBox 6"/>
          <p:cNvSpPr txBox="1"/>
          <p:nvPr/>
        </p:nvSpPr>
        <p:spPr>
          <a:xfrm>
            <a:off x="10744200" y="6510528"/>
            <a:ext cx="914400" cy="201168"/>
          </a:xfrm>
          <a:prstGeom prst="rect">
            <a:avLst/>
          </a:prstGeom>
          <a:noFill/>
        </p:spPr>
        <p:txBody>
          <a:bodyPr wrap="square" lIns="27432" rIns="27432" tIns="27432" bIns="27432" anchor="t">
            <a:spAutoFit/>
          </a:bodyPr>
          <a:lstStyle/>
          <a:p>
            <a:pPr algn="r">
              <a:spcAft>
                <a:spcPts val="0"/>
              </a:spcAft>
              <a:defRPr sz="900" b="0">
                <a:solidFill>
                  <a:srgbClr val="546979"/>
                </a:solidFill>
                <a:latin typeface="Aptos"/>
              </a:defRPr>
            </a:pPr>
            <a:r>
              <a:t>02 / 06</a:t>
            </a:r>
          </a:p>
        </p:txBody>
      </p:sp>
      <p:sp>
        <p:nvSpPr>
          <p:cNvPr id="8" name="Rounded Rectangle 7"/>
          <p:cNvSpPr/>
          <p:nvPr/>
        </p:nvSpPr>
        <p:spPr>
          <a:xfrm>
            <a:off x="530352" y="1426464"/>
            <a:ext cx="11119104" cy="704088"/>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30352" y="1426464"/>
            <a:ext cx="82296" cy="704088"/>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554480"/>
            <a:ext cx="2651760" cy="27432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Ruff lint</a:t>
            </a:r>
          </a:p>
        </p:txBody>
      </p:sp>
      <p:sp>
        <p:nvSpPr>
          <p:cNvPr id="11" name="TextBox 10"/>
          <p:cNvSpPr txBox="1"/>
          <p:nvPr/>
        </p:nvSpPr>
        <p:spPr>
          <a:xfrm>
            <a:off x="3200400" y="1572768"/>
            <a:ext cx="5669280" cy="256032"/>
          </a:xfrm>
          <a:prstGeom prst="rect">
            <a:avLst/>
          </a:prstGeom>
          <a:noFill/>
        </p:spPr>
        <p:txBody>
          <a:bodyPr wrap="square" lIns="27432" rIns="27432" tIns="27432" bIns="27432" anchor="t">
            <a:spAutoFit/>
          </a:bodyPr>
          <a:lstStyle/>
          <a:p>
            <a:pPr>
              <a:spcAft>
                <a:spcPts val="0"/>
              </a:spcAft>
              <a:defRPr sz="1400" b="0">
                <a:solidFill>
                  <a:srgbClr val="192B3C"/>
                </a:solidFill>
                <a:latin typeface="Aptos"/>
              </a:defRPr>
            </a:pPr>
            <a:r>
              <a:t>Unused imports, import order, bug patterns</a:t>
            </a:r>
          </a:p>
        </p:txBody>
      </p:sp>
      <p:sp>
        <p:nvSpPr>
          <p:cNvPr id="12" name="TextBox 11"/>
          <p:cNvSpPr txBox="1"/>
          <p:nvPr/>
        </p:nvSpPr>
        <p:spPr>
          <a:xfrm>
            <a:off x="9418320" y="1572768"/>
            <a:ext cx="1938528" cy="274320"/>
          </a:xfrm>
          <a:prstGeom prst="rect">
            <a:avLst/>
          </a:prstGeom>
          <a:noFill/>
        </p:spPr>
        <p:txBody>
          <a:bodyPr wrap="square" lIns="27432" rIns="27432" tIns="27432" bIns="27432" anchor="t">
            <a:spAutoFit/>
          </a:bodyPr>
          <a:lstStyle/>
          <a:p>
            <a:pPr algn="r">
              <a:spcAft>
                <a:spcPts val="0"/>
              </a:spcAft>
              <a:defRPr sz="1200" b="1">
                <a:solidFill>
                  <a:srgbClr val="009E97"/>
                </a:solidFill>
                <a:latin typeface="Aptos"/>
              </a:defRPr>
            </a:pPr>
            <a:r>
              <a:t>E · W · F · I · C4 · B</a:t>
            </a:r>
          </a:p>
        </p:txBody>
      </p:sp>
      <p:sp>
        <p:nvSpPr>
          <p:cNvPr id="13" name="Rounded Rectangle 12"/>
          <p:cNvSpPr/>
          <p:nvPr/>
        </p:nvSpPr>
        <p:spPr>
          <a:xfrm>
            <a:off x="530352" y="2286000"/>
            <a:ext cx="11119104" cy="704088"/>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0352" y="2286000"/>
            <a:ext cx="82296" cy="704088"/>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2414016"/>
            <a:ext cx="2651760" cy="27432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Ruff format</a:t>
            </a:r>
          </a:p>
        </p:txBody>
      </p:sp>
      <p:sp>
        <p:nvSpPr>
          <p:cNvPr id="16" name="TextBox 15"/>
          <p:cNvSpPr txBox="1"/>
          <p:nvPr/>
        </p:nvSpPr>
        <p:spPr>
          <a:xfrm>
            <a:off x="3200400" y="2432304"/>
            <a:ext cx="5669280" cy="256032"/>
          </a:xfrm>
          <a:prstGeom prst="rect">
            <a:avLst/>
          </a:prstGeom>
          <a:noFill/>
        </p:spPr>
        <p:txBody>
          <a:bodyPr wrap="square" lIns="27432" rIns="27432" tIns="27432" bIns="27432" anchor="t">
            <a:spAutoFit/>
          </a:bodyPr>
          <a:lstStyle/>
          <a:p>
            <a:pPr>
              <a:spcAft>
                <a:spcPts val="0"/>
              </a:spcAft>
              <a:defRPr sz="1400" b="0">
                <a:solidFill>
                  <a:srgbClr val="192B3C"/>
                </a:solidFill>
                <a:latin typeface="Aptos"/>
              </a:defRPr>
            </a:pPr>
            <a:r>
              <a:t>Enforces one Python layout</a:t>
            </a:r>
          </a:p>
        </p:txBody>
      </p:sp>
      <p:sp>
        <p:nvSpPr>
          <p:cNvPr id="17" name="TextBox 16"/>
          <p:cNvSpPr txBox="1"/>
          <p:nvPr/>
        </p:nvSpPr>
        <p:spPr>
          <a:xfrm>
            <a:off x="9418320" y="2432304"/>
            <a:ext cx="1938528" cy="274320"/>
          </a:xfrm>
          <a:prstGeom prst="rect">
            <a:avLst/>
          </a:prstGeom>
          <a:noFill/>
        </p:spPr>
        <p:txBody>
          <a:bodyPr wrap="square" lIns="27432" rIns="27432" tIns="27432" bIns="27432" anchor="t">
            <a:spAutoFit/>
          </a:bodyPr>
          <a:lstStyle/>
          <a:p>
            <a:pPr algn="r">
              <a:spcAft>
                <a:spcPts val="0"/>
              </a:spcAft>
              <a:defRPr sz="1200" b="1">
                <a:solidFill>
                  <a:srgbClr val="009E97"/>
                </a:solidFill>
                <a:latin typeface="Aptos"/>
              </a:defRPr>
            </a:pPr>
            <a:r>
              <a:t>--check in CI</a:t>
            </a:r>
          </a:p>
        </p:txBody>
      </p:sp>
      <p:sp>
        <p:nvSpPr>
          <p:cNvPr id="18" name="Rounded Rectangle 17"/>
          <p:cNvSpPr/>
          <p:nvPr/>
        </p:nvSpPr>
        <p:spPr>
          <a:xfrm>
            <a:off x="530352" y="3145536"/>
            <a:ext cx="11119104" cy="704088"/>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0352" y="3145536"/>
            <a:ext cx="82296" cy="704088"/>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273552"/>
            <a:ext cx="2651760" cy="27432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Mypy + django-stubs</a:t>
            </a:r>
          </a:p>
        </p:txBody>
      </p:sp>
      <p:sp>
        <p:nvSpPr>
          <p:cNvPr id="21" name="TextBox 20"/>
          <p:cNvSpPr txBox="1"/>
          <p:nvPr/>
        </p:nvSpPr>
        <p:spPr>
          <a:xfrm>
            <a:off x="3200400" y="3291840"/>
            <a:ext cx="5669280" cy="256032"/>
          </a:xfrm>
          <a:prstGeom prst="rect">
            <a:avLst/>
          </a:prstGeom>
          <a:noFill/>
        </p:spPr>
        <p:txBody>
          <a:bodyPr wrap="square" lIns="27432" rIns="27432" tIns="27432" bIns="27432" anchor="t">
            <a:spAutoFit/>
          </a:bodyPr>
          <a:lstStyle/>
          <a:p>
            <a:pPr>
              <a:spcAft>
                <a:spcPts val="0"/>
              </a:spcAft>
              <a:defRPr sz="1400" b="0">
                <a:solidFill>
                  <a:srgbClr val="192B3C"/>
                </a:solidFill>
                <a:latin typeface="Aptos"/>
              </a:defRPr>
            </a:pPr>
            <a:r>
              <a:t>Checks annotated code with Django context</a:t>
            </a:r>
          </a:p>
        </p:txBody>
      </p:sp>
      <p:sp>
        <p:nvSpPr>
          <p:cNvPr id="22" name="TextBox 21"/>
          <p:cNvSpPr txBox="1"/>
          <p:nvPr/>
        </p:nvSpPr>
        <p:spPr>
          <a:xfrm>
            <a:off x="9418320" y="3291840"/>
            <a:ext cx="1938528" cy="274320"/>
          </a:xfrm>
          <a:prstGeom prst="rect">
            <a:avLst/>
          </a:prstGeom>
          <a:noFill/>
        </p:spPr>
        <p:txBody>
          <a:bodyPr wrap="square" lIns="27432" rIns="27432" tIns="27432" bIns="27432" anchor="t">
            <a:spAutoFit/>
          </a:bodyPr>
          <a:lstStyle/>
          <a:p>
            <a:pPr algn="r">
              <a:spcAft>
                <a:spcPts val="0"/>
              </a:spcAft>
              <a:defRPr sz="1200" b="1">
                <a:solidFill>
                  <a:srgbClr val="009E97"/>
                </a:solidFill>
                <a:latin typeface="Aptos"/>
              </a:defRPr>
            </a:pPr>
            <a:r>
              <a:t>config.settings</a:t>
            </a:r>
          </a:p>
        </p:txBody>
      </p:sp>
      <p:sp>
        <p:nvSpPr>
          <p:cNvPr id="23" name="Rounded Rectangle 22"/>
          <p:cNvSpPr/>
          <p:nvPr/>
        </p:nvSpPr>
        <p:spPr>
          <a:xfrm>
            <a:off x="530352" y="4005072"/>
            <a:ext cx="11119104" cy="704088"/>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0352" y="4005072"/>
            <a:ext cx="82296" cy="704088"/>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133087"/>
            <a:ext cx="2651760" cy="27432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Django check</a:t>
            </a:r>
          </a:p>
        </p:txBody>
      </p:sp>
      <p:sp>
        <p:nvSpPr>
          <p:cNvPr id="26" name="TextBox 25"/>
          <p:cNvSpPr txBox="1"/>
          <p:nvPr/>
        </p:nvSpPr>
        <p:spPr>
          <a:xfrm>
            <a:off x="3200400" y="4151376"/>
            <a:ext cx="5669280" cy="256032"/>
          </a:xfrm>
          <a:prstGeom prst="rect">
            <a:avLst/>
          </a:prstGeom>
          <a:noFill/>
        </p:spPr>
        <p:txBody>
          <a:bodyPr wrap="square" lIns="27432" rIns="27432" tIns="27432" bIns="27432" anchor="t">
            <a:spAutoFit/>
          </a:bodyPr>
          <a:lstStyle/>
          <a:p>
            <a:pPr>
              <a:spcAft>
                <a:spcPts val="0"/>
              </a:spcAft>
              <a:defRPr sz="1400" b="0">
                <a:solidFill>
                  <a:srgbClr val="192B3C"/>
                </a:solidFill>
                <a:latin typeface="Aptos"/>
              </a:defRPr>
            </a:pPr>
            <a:r>
              <a:t>Validates project configuration</a:t>
            </a:r>
          </a:p>
        </p:txBody>
      </p:sp>
      <p:sp>
        <p:nvSpPr>
          <p:cNvPr id="27" name="TextBox 26"/>
          <p:cNvSpPr txBox="1"/>
          <p:nvPr/>
        </p:nvSpPr>
        <p:spPr>
          <a:xfrm>
            <a:off x="9418320" y="4151376"/>
            <a:ext cx="1938528" cy="274320"/>
          </a:xfrm>
          <a:prstGeom prst="rect">
            <a:avLst/>
          </a:prstGeom>
          <a:noFill/>
        </p:spPr>
        <p:txBody>
          <a:bodyPr wrap="square" lIns="27432" rIns="27432" tIns="27432" bIns="27432" anchor="t">
            <a:spAutoFit/>
          </a:bodyPr>
          <a:lstStyle/>
          <a:p>
            <a:pPr algn="r">
              <a:spcAft>
                <a:spcPts val="0"/>
              </a:spcAft>
              <a:defRPr sz="1200" b="1">
                <a:solidFill>
                  <a:srgbClr val="009E97"/>
                </a:solidFill>
                <a:latin typeface="Aptos"/>
              </a:defRPr>
            </a:pPr>
            <a:r>
              <a:t>manage.py check</a:t>
            </a:r>
          </a:p>
        </p:txBody>
      </p:sp>
      <p:sp>
        <p:nvSpPr>
          <p:cNvPr id="28" name="Rounded Rectangle 27"/>
          <p:cNvSpPr/>
          <p:nvPr/>
        </p:nvSpPr>
        <p:spPr>
          <a:xfrm>
            <a:off x="530352" y="4864608"/>
            <a:ext cx="11119104" cy="704088"/>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30352" y="4864608"/>
            <a:ext cx="82296" cy="704088"/>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4992624"/>
            <a:ext cx="2651760" cy="27432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Django tests</a:t>
            </a:r>
          </a:p>
        </p:txBody>
      </p:sp>
      <p:sp>
        <p:nvSpPr>
          <p:cNvPr id="31" name="TextBox 30"/>
          <p:cNvSpPr txBox="1"/>
          <p:nvPr/>
        </p:nvSpPr>
        <p:spPr>
          <a:xfrm>
            <a:off x="3200400" y="5010912"/>
            <a:ext cx="5669280" cy="256032"/>
          </a:xfrm>
          <a:prstGeom prst="rect">
            <a:avLst/>
          </a:prstGeom>
          <a:noFill/>
        </p:spPr>
        <p:txBody>
          <a:bodyPr wrap="square" lIns="27432" rIns="27432" tIns="27432" bIns="27432" anchor="t">
            <a:spAutoFit/>
          </a:bodyPr>
          <a:lstStyle/>
          <a:p>
            <a:pPr>
              <a:spcAft>
                <a:spcPts val="0"/>
              </a:spcAft>
              <a:defRPr sz="1400" b="0">
                <a:solidFill>
                  <a:srgbClr val="192B3C"/>
                </a:solidFill>
                <a:latin typeface="Aptos"/>
              </a:defRPr>
            </a:pPr>
            <a:r>
              <a:t>Confirms endpoint behavior</a:t>
            </a:r>
          </a:p>
        </p:txBody>
      </p:sp>
      <p:sp>
        <p:nvSpPr>
          <p:cNvPr id="32" name="TextBox 31"/>
          <p:cNvSpPr txBox="1"/>
          <p:nvPr/>
        </p:nvSpPr>
        <p:spPr>
          <a:xfrm>
            <a:off x="9418320" y="5010912"/>
            <a:ext cx="1938528" cy="274320"/>
          </a:xfrm>
          <a:prstGeom prst="rect">
            <a:avLst/>
          </a:prstGeom>
          <a:noFill/>
        </p:spPr>
        <p:txBody>
          <a:bodyPr wrap="square" lIns="27432" rIns="27432" tIns="27432" bIns="27432" anchor="t">
            <a:spAutoFit/>
          </a:bodyPr>
          <a:lstStyle/>
          <a:p>
            <a:pPr algn="r">
              <a:spcAft>
                <a:spcPts val="0"/>
              </a:spcAft>
              <a:defRPr sz="1200" b="1">
                <a:solidFill>
                  <a:srgbClr val="009E97"/>
                </a:solidFill>
                <a:latin typeface="Aptos"/>
              </a:defRPr>
            </a:pPr>
            <a:r>
              <a:t>manage.py test</a:t>
            </a:r>
          </a:p>
        </p:txBody>
      </p:sp>
      <p:sp>
        <p:nvSpPr>
          <p:cNvPr id="33" name="TextBox 32"/>
          <p:cNvSpPr txBox="1"/>
          <p:nvPr/>
        </p:nvSpPr>
        <p:spPr>
          <a:xfrm>
            <a:off x="658368" y="5879592"/>
            <a:ext cx="10881360" cy="310896"/>
          </a:xfrm>
          <a:prstGeom prst="rect">
            <a:avLst/>
          </a:prstGeom>
          <a:noFill/>
        </p:spPr>
        <p:txBody>
          <a:bodyPr wrap="square" lIns="27432" rIns="27432" tIns="27432" bIns="27432" anchor="t">
            <a:spAutoFit/>
          </a:bodyPr>
          <a:lstStyle/>
          <a:p>
            <a:pPr>
              <a:spcAft>
                <a:spcPts val="0"/>
              </a:spcAft>
              <a:defRPr sz="1400" b="0">
                <a:solidFill>
                  <a:srgbClr val="546979"/>
                </a:solidFill>
                <a:latin typeface="Aptos"/>
              </a:defRPr>
            </a:pPr>
            <a:r>
              <a:t>CI/CD runs the same commands automatically on code changes, making the result visible on pushes and pull requests.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583680" cy="246888"/>
          </a:xfrm>
          <a:prstGeom prst="rect">
            <a:avLst/>
          </a:prstGeom>
          <a:noFill/>
        </p:spPr>
        <p:txBody>
          <a:bodyPr wrap="square" lIns="27432" rIns="27432" tIns="27432" bIns="27432" anchor="t">
            <a:spAutoFit/>
          </a:bodyPr>
          <a:lstStyle/>
          <a:p>
            <a:pPr>
              <a:spcAft>
                <a:spcPts val="0"/>
              </a:spcAft>
              <a:defRPr sz="1000" b="1">
                <a:solidFill>
                  <a:srgbClr val="009E97"/>
                </a:solidFill>
                <a:latin typeface="Aptos"/>
              </a:defRPr>
            </a:pPr>
            <a:r>
              <a:t>DJANGO CODE QUALITY</a:t>
            </a:r>
          </a:p>
        </p:txBody>
      </p:sp>
      <p:sp>
        <p:nvSpPr>
          <p:cNvPr id="4" name="TextBox 3"/>
          <p:cNvSpPr txBox="1"/>
          <p:nvPr/>
        </p:nvSpPr>
        <p:spPr>
          <a:xfrm>
            <a:off x="502920" y="649224"/>
            <a:ext cx="11155680" cy="530352"/>
          </a:xfrm>
          <a:prstGeom prst="rect">
            <a:avLst/>
          </a:prstGeom>
          <a:noFill/>
        </p:spPr>
        <p:txBody>
          <a:bodyPr wrap="square" lIns="27432" rIns="27432" tIns="27432" bIns="27432" anchor="t">
            <a:spAutoFit/>
          </a:bodyPr>
          <a:lstStyle/>
          <a:p>
            <a:pPr>
              <a:spcAft>
                <a:spcPts val="0"/>
              </a:spcAft>
              <a:defRPr sz="2800" b="1">
                <a:solidFill>
                  <a:srgbClr val="0C1C2F"/>
                </a:solidFill>
                <a:latin typeface="Aptos"/>
              </a:defRPr>
            </a:pPr>
            <a:r>
              <a:t>Configuration lives beside the Django app</a:t>
            </a:r>
          </a:p>
        </p:txBody>
      </p:sp>
      <p:sp>
        <p:nvSpPr>
          <p:cNvPr id="5" name="Rectangle 4"/>
          <p:cNvSpPr/>
          <p:nvPr/>
        </p:nvSpPr>
        <p:spPr>
          <a:xfrm>
            <a:off x="502920" y="6419088"/>
            <a:ext cx="11183112" cy="11887"/>
          </a:xfrm>
          <a:prstGeom prst="rect">
            <a:avLst/>
          </a:prstGeom>
          <a:solidFill>
            <a:srgbClr val="DA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7315200" cy="201168"/>
          </a:xfrm>
          <a:prstGeom prst="rect">
            <a:avLst/>
          </a:prstGeom>
          <a:noFill/>
        </p:spPr>
        <p:txBody>
          <a:bodyPr wrap="square" lIns="27432" rIns="27432" tIns="27432" bIns="27432" anchor="t">
            <a:spAutoFit/>
          </a:bodyPr>
          <a:lstStyle/>
          <a:p>
            <a:pPr>
              <a:spcAft>
                <a:spcPts val="0"/>
              </a:spcAft>
              <a:defRPr sz="900" b="0">
                <a:solidFill>
                  <a:srgbClr val="546979"/>
                </a:solidFill>
                <a:latin typeface="Aptos"/>
              </a:defRPr>
            </a:pPr>
            <a:r>
              <a:t>SOURCE: project repository  •  October 2026</a:t>
            </a:r>
          </a:p>
        </p:txBody>
      </p:sp>
      <p:sp>
        <p:nvSpPr>
          <p:cNvPr id="7" name="TextBox 6"/>
          <p:cNvSpPr txBox="1"/>
          <p:nvPr/>
        </p:nvSpPr>
        <p:spPr>
          <a:xfrm>
            <a:off x="10744200" y="6510528"/>
            <a:ext cx="914400" cy="201168"/>
          </a:xfrm>
          <a:prstGeom prst="rect">
            <a:avLst/>
          </a:prstGeom>
          <a:noFill/>
        </p:spPr>
        <p:txBody>
          <a:bodyPr wrap="square" lIns="27432" rIns="27432" tIns="27432" bIns="27432" anchor="t">
            <a:spAutoFit/>
          </a:bodyPr>
          <a:lstStyle/>
          <a:p>
            <a:pPr algn="r">
              <a:spcAft>
                <a:spcPts val="0"/>
              </a:spcAft>
              <a:defRPr sz="900" b="0">
                <a:solidFill>
                  <a:srgbClr val="546979"/>
                </a:solidFill>
                <a:latin typeface="Aptos"/>
              </a:defRPr>
            </a:pPr>
            <a:r>
              <a:t>03 / 06</a:t>
            </a:r>
          </a:p>
        </p:txBody>
      </p:sp>
      <p:sp>
        <p:nvSpPr>
          <p:cNvPr id="8" name="Rounded Rectangle 7"/>
          <p:cNvSpPr/>
          <p:nvPr/>
        </p:nvSpPr>
        <p:spPr>
          <a:xfrm>
            <a:off x="530352" y="1408176"/>
            <a:ext cx="6620256" cy="4416552"/>
          </a:xfrm>
          <a:prstGeom prst="roundRect">
            <a:avLst/>
          </a:prstGeom>
          <a:solidFill>
            <a:srgbClr val="0C1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73352"/>
            <a:ext cx="6035040" cy="310896"/>
          </a:xfrm>
          <a:prstGeom prst="rect">
            <a:avLst/>
          </a:prstGeom>
          <a:noFill/>
        </p:spPr>
        <p:txBody>
          <a:bodyPr wrap="square" lIns="27432" rIns="27432" tIns="27432" bIns="27432" anchor="t">
            <a:spAutoFit/>
          </a:bodyPr>
          <a:lstStyle/>
          <a:p>
            <a:pPr>
              <a:spcAft>
                <a:spcPts val="0"/>
              </a:spcAft>
              <a:defRPr sz="1600" b="1">
                <a:solidFill>
                  <a:srgbClr val="71E2D4"/>
                </a:solidFill>
                <a:latin typeface="Aptos"/>
              </a:defRPr>
            </a:pPr>
            <a:r>
              <a:t>pyproject.toml</a:t>
            </a:r>
          </a:p>
        </p:txBody>
      </p:sp>
      <p:sp>
        <p:nvSpPr>
          <p:cNvPr id="10" name="TextBox 9"/>
          <p:cNvSpPr txBox="1"/>
          <p:nvPr/>
        </p:nvSpPr>
        <p:spPr>
          <a:xfrm>
            <a:off x="822960" y="2112264"/>
            <a:ext cx="6080760" cy="3337560"/>
          </a:xfrm>
          <a:prstGeom prst="rect">
            <a:avLst/>
          </a:prstGeom>
          <a:noFill/>
        </p:spPr>
        <p:txBody>
          <a:bodyPr wrap="square" lIns="27432" rIns="27432" tIns="27432" bIns="27432" anchor="t">
            <a:spAutoFit/>
          </a:bodyPr>
          <a:lstStyle/>
          <a:p>
            <a:pPr>
              <a:spcAft>
                <a:spcPts val="0"/>
              </a:spcAft>
              <a:defRPr sz="1500" b="0">
                <a:solidFill>
                  <a:srgbClr val="FFFFFF"/>
                </a:solidFill>
                <a:latin typeface="Consolas"/>
              </a:defRPr>
            </a:pPr>
            <a:r>
              <a:t>[tool.ruff]</a:t>
            </a:r>
          </a:p>
          <a:p>
            <a:pPr>
              <a:spcAft>
                <a:spcPts val="0"/>
              </a:spcAft>
              <a:defRPr sz="1500" b="0">
                <a:solidFill>
                  <a:srgbClr val="FFFFFF"/>
                </a:solidFill>
                <a:latin typeface="Consolas"/>
              </a:defRPr>
            </a:pPr>
            <a:r>
              <a:t>target-version = "py314"</a:t>
            </a:r>
          </a:p>
          <a:p>
            <a:pPr>
              <a:spcAft>
                <a:spcPts val="0"/>
              </a:spcAft>
              <a:defRPr sz="1500" b="0">
                <a:solidFill>
                  <a:srgbClr val="FFFFFF"/>
                </a:solidFill>
                <a:latin typeface="Consolas"/>
              </a:defRPr>
            </a:pPr>
            <a:r>
              <a:t>line-length = 88</a:t>
            </a:r>
          </a:p>
          <a:p>
            <a:pPr>
              <a:spcAft>
                <a:spcPts val="0"/>
              </a:spcAft>
              <a:defRPr sz="1500" b="0">
                <a:solidFill>
                  <a:srgbClr val="FFFFFF"/>
                </a:solidFill>
                <a:latin typeface="Consolas"/>
              </a:defRPr>
            </a:pPr>
            <a:r>
              <a:t>extend-exclude = ["*/migrations/*"]</a:t>
            </a:r>
          </a:p>
          <a:p>
            <a:pPr>
              <a:spcAft>
                <a:spcPts val="0"/>
              </a:spcAft>
              <a:defRPr sz="1500" b="0">
                <a:solidFill>
                  <a:srgbClr val="FFFFFF"/>
                </a:solidFill>
                <a:latin typeface="Consolas"/>
              </a:defRPr>
            </a:pPr>
          </a:p>
          <a:p>
            <a:pPr>
              <a:spcAft>
                <a:spcPts val="0"/>
              </a:spcAft>
              <a:defRPr sz="1500" b="0">
                <a:solidFill>
                  <a:srgbClr val="FFFFFF"/>
                </a:solidFill>
                <a:latin typeface="Consolas"/>
              </a:defRPr>
            </a:pPr>
            <a:r>
              <a:t>[tool.ruff.lint]</a:t>
            </a:r>
          </a:p>
          <a:p>
            <a:pPr>
              <a:spcAft>
                <a:spcPts val="0"/>
              </a:spcAft>
              <a:defRPr sz="1500" b="0">
                <a:solidFill>
                  <a:srgbClr val="FFFFFF"/>
                </a:solidFill>
                <a:latin typeface="Consolas"/>
              </a:defRPr>
            </a:pPr>
            <a:r>
              <a:t>select = ["E", "W", "F", "I", "C4", "B"]</a:t>
            </a:r>
          </a:p>
          <a:p>
            <a:pPr>
              <a:spcAft>
                <a:spcPts val="0"/>
              </a:spcAft>
              <a:defRPr sz="1500" b="0">
                <a:solidFill>
                  <a:srgbClr val="FFFFFF"/>
                </a:solidFill>
                <a:latin typeface="Consolas"/>
              </a:defRPr>
            </a:pPr>
            <a:r>
              <a:t>ignore = ["E501", "B008"]</a:t>
            </a:r>
          </a:p>
          <a:p>
            <a:pPr>
              <a:spcAft>
                <a:spcPts val="0"/>
              </a:spcAft>
              <a:defRPr sz="1500" b="0">
                <a:solidFill>
                  <a:srgbClr val="FFFFFF"/>
                </a:solidFill>
                <a:latin typeface="Consolas"/>
              </a:defRPr>
            </a:pPr>
          </a:p>
          <a:p>
            <a:pPr>
              <a:spcAft>
                <a:spcPts val="0"/>
              </a:spcAft>
              <a:defRPr sz="1500" b="0">
                <a:solidFill>
                  <a:srgbClr val="FFFFFF"/>
                </a:solidFill>
                <a:latin typeface="Consolas"/>
              </a:defRPr>
            </a:pPr>
            <a:r>
              <a:t>[tool.mypy]</a:t>
            </a:r>
          </a:p>
          <a:p>
            <a:pPr>
              <a:spcAft>
                <a:spcPts val="0"/>
              </a:spcAft>
              <a:defRPr sz="1500" b="0">
                <a:solidFill>
                  <a:srgbClr val="FFFFFF"/>
                </a:solidFill>
                <a:latin typeface="Consolas"/>
              </a:defRPr>
            </a:pPr>
            <a:r>
              <a:t>plugins = ["mypy_django_plugin.main"]</a:t>
            </a:r>
          </a:p>
        </p:txBody>
      </p:sp>
      <p:sp>
        <p:nvSpPr>
          <p:cNvPr id="11" name="Rounded Rectangle 10"/>
          <p:cNvSpPr/>
          <p:nvPr/>
        </p:nvSpPr>
        <p:spPr>
          <a:xfrm>
            <a:off x="7370064" y="1408176"/>
            <a:ext cx="4297680" cy="2011680"/>
          </a:xfrm>
          <a:prstGeom prst="roundRect">
            <a:avLst/>
          </a:prstGeom>
          <a:solidFill>
            <a:srgbClr val="DD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627632"/>
            <a:ext cx="3803904" cy="329184"/>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quality_requirements.txt</a:t>
            </a:r>
          </a:p>
        </p:txBody>
      </p:sp>
      <p:sp>
        <p:nvSpPr>
          <p:cNvPr id="13" name="TextBox 12"/>
          <p:cNvSpPr txBox="1"/>
          <p:nvPr/>
        </p:nvSpPr>
        <p:spPr>
          <a:xfrm>
            <a:off x="7598664" y="2029968"/>
            <a:ext cx="3685032" cy="1069848"/>
          </a:xfrm>
          <a:prstGeom prst="rect">
            <a:avLst/>
          </a:prstGeom>
          <a:noFill/>
        </p:spPr>
        <p:txBody>
          <a:bodyPr wrap="square" lIns="27432" rIns="27432" tIns="27432" bIns="27432" anchor="t">
            <a:spAutoFit/>
          </a:bodyPr>
          <a:lstStyle/>
          <a:p>
            <a:pPr>
              <a:spcAft>
                <a:spcPts val="0"/>
              </a:spcAft>
              <a:defRPr sz="1500" b="0">
                <a:solidFill>
                  <a:srgbClr val="192B3C"/>
                </a:solidFill>
                <a:latin typeface="Consolas"/>
              </a:defRPr>
            </a:pPr>
            <a:r>
              <a:t>ruff==0.17.2</a:t>
            </a:r>
          </a:p>
          <a:p>
            <a:pPr>
              <a:spcAft>
                <a:spcPts val="0"/>
              </a:spcAft>
              <a:defRPr sz="1500" b="0">
                <a:solidFill>
                  <a:srgbClr val="192B3C"/>
                </a:solidFill>
                <a:latin typeface="Consolas"/>
              </a:defRPr>
            </a:pPr>
            <a:r>
              <a:t>mypy==2.4.0</a:t>
            </a:r>
          </a:p>
          <a:p>
            <a:pPr>
              <a:spcAft>
                <a:spcPts val="0"/>
              </a:spcAft>
              <a:defRPr sz="1500" b="0">
                <a:solidFill>
                  <a:srgbClr val="192B3C"/>
                </a:solidFill>
                <a:latin typeface="Consolas"/>
              </a:defRPr>
            </a:pPr>
            <a:r>
              <a:t>django-stubs==6.1.2</a:t>
            </a:r>
          </a:p>
        </p:txBody>
      </p:sp>
      <p:sp>
        <p:nvSpPr>
          <p:cNvPr id="14" name="Rounded Rectangle 13"/>
          <p:cNvSpPr/>
          <p:nvPr/>
        </p:nvSpPr>
        <p:spPr>
          <a:xfrm>
            <a:off x="7370064" y="3593592"/>
            <a:ext cx="4297680" cy="2231136"/>
          </a:xfrm>
          <a:prstGeom prst="roundRect">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3813048"/>
            <a:ext cx="3767328" cy="310896"/>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Runtime stays separate</a:t>
            </a:r>
          </a:p>
        </p:txBody>
      </p:sp>
      <p:sp>
        <p:nvSpPr>
          <p:cNvPr id="16" name="TextBox 15"/>
          <p:cNvSpPr txBox="1"/>
          <p:nvPr/>
        </p:nvSpPr>
        <p:spPr>
          <a:xfrm>
            <a:off x="7589520" y="4279392"/>
            <a:ext cx="3730752" cy="1124712"/>
          </a:xfrm>
          <a:prstGeom prst="rect">
            <a:avLst/>
          </a:prstGeom>
          <a:noFill/>
        </p:spPr>
        <p:txBody>
          <a:bodyPr wrap="square" lIns="27432" rIns="27432" tIns="27432" bIns="27432" anchor="t">
            <a:spAutoFit/>
          </a:bodyPr>
          <a:lstStyle/>
          <a:p>
            <a:pPr>
              <a:spcAft>
                <a:spcPts val="0"/>
              </a:spcAft>
              <a:defRPr sz="1500" b="0">
                <a:solidFill>
                  <a:srgbClr val="192B3C"/>
                </a:solidFill>
                <a:latin typeface="Aptos"/>
              </a:defRPr>
            </a:pPr>
            <a:r>
              <a:t>requirements.txt holds Django 6.1.2 and Django REST Framework 3.18.3. CI installs both files.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583680" cy="246888"/>
          </a:xfrm>
          <a:prstGeom prst="rect">
            <a:avLst/>
          </a:prstGeom>
          <a:noFill/>
        </p:spPr>
        <p:txBody>
          <a:bodyPr wrap="square" lIns="27432" rIns="27432" tIns="27432" bIns="27432" anchor="t">
            <a:spAutoFit/>
          </a:bodyPr>
          <a:lstStyle/>
          <a:p>
            <a:pPr>
              <a:spcAft>
                <a:spcPts val="0"/>
              </a:spcAft>
              <a:defRPr sz="1000" b="1">
                <a:solidFill>
                  <a:srgbClr val="009E97"/>
                </a:solidFill>
                <a:latin typeface="Aptos"/>
              </a:defRPr>
            </a:pPr>
            <a:r>
              <a:t>DJANGO CODE QUALITY</a:t>
            </a:r>
          </a:p>
        </p:txBody>
      </p:sp>
      <p:sp>
        <p:nvSpPr>
          <p:cNvPr id="4" name="TextBox 3"/>
          <p:cNvSpPr txBox="1"/>
          <p:nvPr/>
        </p:nvSpPr>
        <p:spPr>
          <a:xfrm>
            <a:off x="502920" y="649224"/>
            <a:ext cx="11155680" cy="530352"/>
          </a:xfrm>
          <a:prstGeom prst="rect">
            <a:avLst/>
          </a:prstGeom>
          <a:noFill/>
        </p:spPr>
        <p:txBody>
          <a:bodyPr wrap="square" lIns="27432" rIns="27432" tIns="27432" bIns="27432" anchor="t">
            <a:spAutoFit/>
          </a:bodyPr>
          <a:lstStyle/>
          <a:p>
            <a:pPr>
              <a:spcAft>
                <a:spcPts val="0"/>
              </a:spcAft>
              <a:defRPr sz="2800" b="1">
                <a:solidFill>
                  <a:srgbClr val="0C1C2F"/>
                </a:solidFill>
                <a:latin typeface="Aptos"/>
              </a:defRPr>
            </a:pPr>
            <a:r>
              <a:t>A real failure path in core/views.py</a:t>
            </a:r>
          </a:p>
        </p:txBody>
      </p:sp>
      <p:sp>
        <p:nvSpPr>
          <p:cNvPr id="5" name="Rectangle 4"/>
          <p:cNvSpPr/>
          <p:nvPr/>
        </p:nvSpPr>
        <p:spPr>
          <a:xfrm>
            <a:off x="502920" y="6419088"/>
            <a:ext cx="11183112" cy="11887"/>
          </a:xfrm>
          <a:prstGeom prst="rect">
            <a:avLst/>
          </a:prstGeom>
          <a:solidFill>
            <a:srgbClr val="DA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7315200" cy="201168"/>
          </a:xfrm>
          <a:prstGeom prst="rect">
            <a:avLst/>
          </a:prstGeom>
          <a:noFill/>
        </p:spPr>
        <p:txBody>
          <a:bodyPr wrap="square" lIns="27432" rIns="27432" tIns="27432" bIns="27432" anchor="t">
            <a:spAutoFit/>
          </a:bodyPr>
          <a:lstStyle/>
          <a:p>
            <a:pPr>
              <a:spcAft>
                <a:spcPts val="0"/>
              </a:spcAft>
              <a:defRPr sz="900" b="0">
                <a:solidFill>
                  <a:srgbClr val="546979"/>
                </a:solidFill>
                <a:latin typeface="Aptos"/>
              </a:defRPr>
            </a:pPr>
            <a:r>
              <a:t>SOURCE: project repository  •  October 2026</a:t>
            </a:r>
          </a:p>
        </p:txBody>
      </p:sp>
      <p:sp>
        <p:nvSpPr>
          <p:cNvPr id="7" name="TextBox 6"/>
          <p:cNvSpPr txBox="1"/>
          <p:nvPr/>
        </p:nvSpPr>
        <p:spPr>
          <a:xfrm>
            <a:off x="10744200" y="6510528"/>
            <a:ext cx="914400" cy="201168"/>
          </a:xfrm>
          <a:prstGeom prst="rect">
            <a:avLst/>
          </a:prstGeom>
          <a:noFill/>
        </p:spPr>
        <p:txBody>
          <a:bodyPr wrap="square" lIns="27432" rIns="27432" tIns="27432" bIns="27432" anchor="t">
            <a:spAutoFit/>
          </a:bodyPr>
          <a:lstStyle/>
          <a:p>
            <a:pPr algn="r">
              <a:spcAft>
                <a:spcPts val="0"/>
              </a:spcAft>
              <a:defRPr sz="900" b="0">
                <a:solidFill>
                  <a:srgbClr val="546979"/>
                </a:solidFill>
                <a:latin typeface="Aptos"/>
              </a:defRPr>
            </a:pPr>
            <a:r>
              <a:t>04 / 06</a:t>
            </a:r>
          </a:p>
        </p:txBody>
      </p:sp>
      <p:sp>
        <p:nvSpPr>
          <p:cNvPr id="8" name="Rounded Rectangle 7"/>
          <p:cNvSpPr/>
          <p:nvPr/>
        </p:nvSpPr>
        <p:spPr>
          <a:xfrm>
            <a:off x="530352" y="1408176"/>
            <a:ext cx="5504688" cy="4416552"/>
          </a:xfrm>
          <a:prstGeom prst="roundRect">
            <a:avLst/>
          </a:prstGeom>
          <a:solidFill>
            <a:srgbClr val="0C1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 y="1636776"/>
            <a:ext cx="4937760" cy="310896"/>
          </a:xfrm>
          <a:prstGeom prst="rect">
            <a:avLst/>
          </a:prstGeom>
          <a:noFill/>
        </p:spPr>
        <p:txBody>
          <a:bodyPr wrap="square" lIns="27432" rIns="27432" tIns="27432" bIns="27432" anchor="t">
            <a:spAutoFit/>
          </a:bodyPr>
          <a:lstStyle/>
          <a:p>
            <a:pPr>
              <a:spcAft>
                <a:spcPts val="0"/>
              </a:spcAft>
              <a:defRPr sz="1600" b="1">
                <a:solidFill>
                  <a:srgbClr val="71E2D4"/>
                </a:solidFill>
                <a:latin typeface="Aptos"/>
              </a:defRPr>
            </a:pPr>
            <a:r>
              <a:t>core/views.py · excerpt</a:t>
            </a:r>
          </a:p>
        </p:txBody>
      </p:sp>
      <p:sp>
        <p:nvSpPr>
          <p:cNvPr id="10" name="TextBox 9"/>
          <p:cNvSpPr txBox="1"/>
          <p:nvPr/>
        </p:nvSpPr>
        <p:spPr>
          <a:xfrm>
            <a:off x="804672" y="2157984"/>
            <a:ext cx="4965192" cy="3081528"/>
          </a:xfrm>
          <a:prstGeom prst="rect">
            <a:avLst/>
          </a:prstGeom>
          <a:noFill/>
        </p:spPr>
        <p:txBody>
          <a:bodyPr wrap="square" lIns="27432" rIns="27432" tIns="27432" bIns="27432" anchor="t">
            <a:spAutoFit/>
          </a:bodyPr>
          <a:lstStyle/>
          <a:p>
            <a:pPr>
              <a:spcAft>
                <a:spcPts val="0"/>
              </a:spcAft>
              <a:defRPr sz="1500" b="0">
                <a:solidFill>
                  <a:srgbClr val="FFFFFF"/>
                </a:solidFill>
                <a:latin typeface="Consolas"/>
              </a:defRPr>
            </a:pPr>
            <a:r>
              <a:t>import json</a:t>
            </a:r>
          </a:p>
          <a:p>
            <a:pPr>
              <a:spcAft>
                <a:spcPts val="0"/>
              </a:spcAft>
              <a:defRPr sz="1500" b="0">
                <a:solidFill>
                  <a:srgbClr val="FFFFFF"/>
                </a:solidFill>
                <a:latin typeface="Consolas"/>
              </a:defRPr>
            </a:pPr>
          </a:p>
          <a:p>
            <a:pPr>
              <a:spcAft>
                <a:spcPts val="0"/>
              </a:spcAft>
              <a:defRPr sz="1500" b="0">
                <a:solidFill>
                  <a:srgbClr val="FFFFFF"/>
                </a:solidFill>
                <a:latin typeface="Consolas"/>
              </a:defRPr>
            </a:pPr>
            <a:r>
              <a:t>def checks(request: HttpRequest) -&gt; JsonResponse:</a:t>
            </a:r>
          </a:p>
          <a:p>
            <a:pPr>
              <a:spcAft>
                <a:spcPts val="0"/>
              </a:spcAft>
              <a:defRPr sz="1500" b="0">
                <a:solidFill>
                  <a:srgbClr val="FFFFFF"/>
                </a:solidFill>
                <a:latin typeface="Consolas"/>
              </a:defRPr>
            </a:pPr>
            <a:r>
              <a:t>    payload: dict[str, str] = {</a:t>
            </a:r>
          </a:p>
          <a:p>
            <a:pPr>
              <a:spcAft>
                <a:spcPts val="0"/>
              </a:spcAft>
              <a:defRPr sz="1500" b="0">
                <a:solidFill>
                  <a:srgbClr val="FFFFFF"/>
                </a:solidFill>
                <a:latin typeface="Consolas"/>
              </a:defRPr>
            </a:pPr>
            <a:r>
              <a:t>        "status": "ok", "checks": 1</a:t>
            </a:r>
          </a:p>
          <a:p>
            <a:pPr>
              <a:spcAft>
                <a:spcPts val="0"/>
              </a:spcAft>
              <a:defRPr sz="1500" b="0">
                <a:solidFill>
                  <a:srgbClr val="FFFFFF"/>
                </a:solidFill>
                <a:latin typeface="Consolas"/>
              </a:defRPr>
            </a:pPr>
            <a:r>
              <a:t>    }</a:t>
            </a:r>
          </a:p>
          <a:p>
            <a:pPr>
              <a:spcAft>
                <a:spcPts val="0"/>
              </a:spcAft>
              <a:defRPr sz="1500" b="0">
                <a:solidFill>
                  <a:srgbClr val="FFFFFF"/>
                </a:solidFill>
                <a:latin typeface="Consolas"/>
              </a:defRPr>
            </a:pPr>
            <a:r>
              <a:t>    return JsonResponse(payload)</a:t>
            </a:r>
          </a:p>
        </p:txBody>
      </p:sp>
      <p:sp>
        <p:nvSpPr>
          <p:cNvPr id="11" name="Rounded Rectangle 10"/>
          <p:cNvSpPr/>
          <p:nvPr/>
        </p:nvSpPr>
        <p:spPr>
          <a:xfrm>
            <a:off x="6263640" y="1408176"/>
            <a:ext cx="5404104" cy="1316736"/>
          </a:xfrm>
          <a:prstGeom prst="roundRect">
            <a:avLst/>
          </a:prstGeom>
          <a:solidFill>
            <a:srgbClr val="FF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1636776"/>
            <a:ext cx="4846320" cy="283464"/>
          </a:xfrm>
          <a:prstGeom prst="rect">
            <a:avLst/>
          </a:prstGeom>
          <a:noFill/>
        </p:spPr>
        <p:txBody>
          <a:bodyPr wrap="square" lIns="27432" rIns="27432" tIns="27432" bIns="27432" anchor="t">
            <a:spAutoFit/>
          </a:bodyPr>
          <a:lstStyle/>
          <a:p>
            <a:pPr>
              <a:spcAft>
                <a:spcPts val="0"/>
              </a:spcAft>
              <a:defRPr sz="1700" b="1">
                <a:solidFill>
                  <a:srgbClr val="0C1C2F"/>
                </a:solidFill>
                <a:latin typeface="Aptos"/>
              </a:defRPr>
            </a:pPr>
            <a:r>
              <a:t>1  Ruff: F401</a:t>
            </a:r>
          </a:p>
        </p:txBody>
      </p:sp>
      <p:sp>
        <p:nvSpPr>
          <p:cNvPr id="13" name="TextBox 12"/>
          <p:cNvSpPr txBox="1"/>
          <p:nvPr/>
        </p:nvSpPr>
        <p:spPr>
          <a:xfrm>
            <a:off x="6519672" y="2057400"/>
            <a:ext cx="4809744" cy="310896"/>
          </a:xfrm>
          <a:prstGeom prst="rect">
            <a:avLst/>
          </a:prstGeom>
          <a:noFill/>
        </p:spPr>
        <p:txBody>
          <a:bodyPr wrap="square" lIns="27432" rIns="27432" tIns="27432" bIns="27432" anchor="t">
            <a:spAutoFit/>
          </a:bodyPr>
          <a:lstStyle/>
          <a:p>
            <a:pPr>
              <a:spcAft>
                <a:spcPts val="0"/>
              </a:spcAft>
              <a:defRPr sz="1400" b="0">
                <a:solidFill>
                  <a:srgbClr val="192B3C"/>
                </a:solidFill>
                <a:latin typeface="Aptos"/>
              </a:defRPr>
            </a:pPr>
            <a:r>
              <a:t>`json` imported but unused → remove import</a:t>
            </a:r>
          </a:p>
        </p:txBody>
      </p:sp>
      <p:sp>
        <p:nvSpPr>
          <p:cNvPr id="14" name="Rounded Rectangle 13"/>
          <p:cNvSpPr/>
          <p:nvPr/>
        </p:nvSpPr>
        <p:spPr>
          <a:xfrm>
            <a:off x="6263640" y="2907792"/>
            <a:ext cx="5404104" cy="1316736"/>
          </a:xfrm>
          <a:prstGeom prst="roundRect">
            <a:avLst/>
          </a:prstGeom>
          <a:solidFill>
            <a:srgbClr val="DD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3127248"/>
            <a:ext cx="4846320" cy="283464"/>
          </a:xfrm>
          <a:prstGeom prst="rect">
            <a:avLst/>
          </a:prstGeom>
          <a:noFill/>
        </p:spPr>
        <p:txBody>
          <a:bodyPr wrap="square" lIns="27432" rIns="27432" tIns="27432" bIns="27432" anchor="t">
            <a:spAutoFit/>
          </a:bodyPr>
          <a:lstStyle/>
          <a:p>
            <a:pPr>
              <a:spcAft>
                <a:spcPts val="0"/>
              </a:spcAft>
              <a:defRPr sz="1700" b="1">
                <a:solidFill>
                  <a:srgbClr val="0C1C2F"/>
                </a:solidFill>
                <a:latin typeface="Aptos"/>
              </a:defRPr>
            </a:pPr>
            <a:r>
              <a:t>2  Mypy: dict-item</a:t>
            </a:r>
          </a:p>
        </p:txBody>
      </p:sp>
      <p:sp>
        <p:nvSpPr>
          <p:cNvPr id="16" name="TextBox 15"/>
          <p:cNvSpPr txBox="1"/>
          <p:nvPr/>
        </p:nvSpPr>
        <p:spPr>
          <a:xfrm>
            <a:off x="6519672" y="3547872"/>
            <a:ext cx="4837176" cy="411480"/>
          </a:xfrm>
          <a:prstGeom prst="rect">
            <a:avLst/>
          </a:prstGeom>
          <a:noFill/>
        </p:spPr>
        <p:txBody>
          <a:bodyPr wrap="square" lIns="27432" rIns="27432" tIns="27432" bIns="27432" anchor="t">
            <a:spAutoFit/>
          </a:bodyPr>
          <a:lstStyle/>
          <a:p>
            <a:pPr>
              <a:spcAft>
                <a:spcPts val="0"/>
              </a:spcAft>
              <a:defRPr sz="1400" b="0">
                <a:solidFill>
                  <a:srgbClr val="192B3C"/>
                </a:solidFill>
                <a:latin typeface="Aptos"/>
              </a:defRPr>
            </a:pPr>
            <a:r>
              <a:t>`checks` is int; annotation says str → use str | int</a:t>
            </a:r>
          </a:p>
        </p:txBody>
      </p:sp>
      <p:sp>
        <p:nvSpPr>
          <p:cNvPr id="17" name="Rounded Rectangle 16"/>
          <p:cNvSpPr/>
          <p:nvPr/>
        </p:nvSpPr>
        <p:spPr>
          <a:xfrm>
            <a:off x="6263640" y="4407408"/>
            <a:ext cx="5404104" cy="1417320"/>
          </a:xfrm>
          <a:prstGeom prst="roundRect">
            <a:avLst/>
          </a:prstGeom>
          <a:solidFill>
            <a:srgbClr val="E1E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4626864"/>
            <a:ext cx="4846320" cy="283464"/>
          </a:xfrm>
          <a:prstGeom prst="rect">
            <a:avLst/>
          </a:prstGeom>
          <a:noFill/>
        </p:spPr>
        <p:txBody>
          <a:bodyPr wrap="square" lIns="27432" rIns="27432" tIns="27432" bIns="27432" anchor="t">
            <a:spAutoFit/>
          </a:bodyPr>
          <a:lstStyle/>
          <a:p>
            <a:pPr>
              <a:spcAft>
                <a:spcPts val="0"/>
              </a:spcAft>
              <a:defRPr sz="1700" b="1">
                <a:solidFill>
                  <a:srgbClr val="0C1C2F"/>
                </a:solidFill>
                <a:latin typeface="Aptos"/>
              </a:defRPr>
            </a:pPr>
            <a:r>
              <a:t>3  Behavior still passes</a:t>
            </a:r>
          </a:p>
        </p:txBody>
      </p:sp>
      <p:sp>
        <p:nvSpPr>
          <p:cNvPr id="19" name="TextBox 18"/>
          <p:cNvSpPr txBox="1"/>
          <p:nvPr/>
        </p:nvSpPr>
        <p:spPr>
          <a:xfrm>
            <a:off x="6519672" y="5029200"/>
            <a:ext cx="4800600" cy="512064"/>
          </a:xfrm>
          <a:prstGeom prst="rect">
            <a:avLst/>
          </a:prstGeom>
          <a:noFill/>
        </p:spPr>
        <p:txBody>
          <a:bodyPr wrap="square" lIns="27432" rIns="27432" tIns="27432" bIns="27432" anchor="t">
            <a:spAutoFit/>
          </a:bodyPr>
          <a:lstStyle/>
          <a:p>
            <a:pPr>
              <a:spcAft>
                <a:spcPts val="0"/>
              </a:spcAft>
              <a:defRPr sz="1400" b="0">
                <a:solidFill>
                  <a:srgbClr val="192B3C"/>
                </a:solidFill>
                <a:latin typeface="Aptos"/>
              </a:defRPr>
            </a:pPr>
            <a:r>
              <a:t>Two endpoint tests pass; static checks catch issues that behavior tests miss.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583680" cy="246888"/>
          </a:xfrm>
          <a:prstGeom prst="rect">
            <a:avLst/>
          </a:prstGeom>
          <a:noFill/>
        </p:spPr>
        <p:txBody>
          <a:bodyPr wrap="square" lIns="27432" rIns="27432" tIns="27432" bIns="27432" anchor="t">
            <a:spAutoFit/>
          </a:bodyPr>
          <a:lstStyle/>
          <a:p>
            <a:pPr>
              <a:spcAft>
                <a:spcPts val="0"/>
              </a:spcAft>
              <a:defRPr sz="1000" b="1">
                <a:solidFill>
                  <a:srgbClr val="009E97"/>
                </a:solidFill>
                <a:latin typeface="Aptos"/>
              </a:defRPr>
            </a:pPr>
            <a:r>
              <a:t>DJANGO CODE QUALITY</a:t>
            </a:r>
          </a:p>
        </p:txBody>
      </p:sp>
      <p:sp>
        <p:nvSpPr>
          <p:cNvPr id="4" name="TextBox 3"/>
          <p:cNvSpPr txBox="1"/>
          <p:nvPr/>
        </p:nvSpPr>
        <p:spPr>
          <a:xfrm>
            <a:off x="502920" y="649224"/>
            <a:ext cx="11155680" cy="530352"/>
          </a:xfrm>
          <a:prstGeom prst="rect">
            <a:avLst/>
          </a:prstGeom>
          <a:noFill/>
        </p:spPr>
        <p:txBody>
          <a:bodyPr wrap="square" lIns="27432" rIns="27432" tIns="27432" bIns="27432" anchor="t">
            <a:spAutoFit/>
          </a:bodyPr>
          <a:lstStyle/>
          <a:p>
            <a:pPr>
              <a:spcAft>
                <a:spcPts val="0"/>
              </a:spcAft>
              <a:defRPr sz="2800" b="1">
                <a:solidFill>
                  <a:srgbClr val="0C1C2F"/>
                </a:solidFill>
                <a:latin typeface="Aptos"/>
              </a:defRPr>
            </a:pPr>
            <a:r>
              <a:t>From local feedback to pull request validation</a:t>
            </a:r>
          </a:p>
        </p:txBody>
      </p:sp>
      <p:sp>
        <p:nvSpPr>
          <p:cNvPr id="5" name="Rectangle 4"/>
          <p:cNvSpPr/>
          <p:nvPr/>
        </p:nvSpPr>
        <p:spPr>
          <a:xfrm>
            <a:off x="502920" y="6419088"/>
            <a:ext cx="11183112" cy="11887"/>
          </a:xfrm>
          <a:prstGeom prst="rect">
            <a:avLst/>
          </a:prstGeom>
          <a:solidFill>
            <a:srgbClr val="DA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7315200" cy="201168"/>
          </a:xfrm>
          <a:prstGeom prst="rect">
            <a:avLst/>
          </a:prstGeom>
          <a:noFill/>
        </p:spPr>
        <p:txBody>
          <a:bodyPr wrap="square" lIns="27432" rIns="27432" tIns="27432" bIns="27432" anchor="t">
            <a:spAutoFit/>
          </a:bodyPr>
          <a:lstStyle/>
          <a:p>
            <a:pPr>
              <a:spcAft>
                <a:spcPts val="0"/>
              </a:spcAft>
              <a:defRPr sz="900" b="0">
                <a:solidFill>
                  <a:srgbClr val="546979"/>
                </a:solidFill>
                <a:latin typeface="Aptos"/>
              </a:defRPr>
            </a:pPr>
            <a:r>
              <a:t>SOURCE: project repository  •  October 2026</a:t>
            </a:r>
          </a:p>
        </p:txBody>
      </p:sp>
      <p:sp>
        <p:nvSpPr>
          <p:cNvPr id="7" name="TextBox 6"/>
          <p:cNvSpPr txBox="1"/>
          <p:nvPr/>
        </p:nvSpPr>
        <p:spPr>
          <a:xfrm>
            <a:off x="10744200" y="6510528"/>
            <a:ext cx="914400" cy="201168"/>
          </a:xfrm>
          <a:prstGeom prst="rect">
            <a:avLst/>
          </a:prstGeom>
          <a:noFill/>
        </p:spPr>
        <p:txBody>
          <a:bodyPr wrap="square" lIns="27432" rIns="27432" tIns="27432" bIns="27432" anchor="t">
            <a:spAutoFit/>
          </a:bodyPr>
          <a:lstStyle/>
          <a:p>
            <a:pPr algn="r">
              <a:spcAft>
                <a:spcPts val="0"/>
              </a:spcAft>
              <a:defRPr sz="900" b="0">
                <a:solidFill>
                  <a:srgbClr val="546979"/>
                </a:solidFill>
                <a:latin typeface="Aptos"/>
              </a:defRPr>
            </a:pPr>
            <a:r>
              <a:t>05 / 06</a:t>
            </a:r>
          </a:p>
        </p:txBody>
      </p:sp>
      <p:sp>
        <p:nvSpPr>
          <p:cNvPr id="8" name="Rounded Rectangle 7"/>
          <p:cNvSpPr/>
          <p:nvPr/>
        </p:nvSpPr>
        <p:spPr>
          <a:xfrm>
            <a:off x="539496" y="1481328"/>
            <a:ext cx="2084831" cy="1380744"/>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664208"/>
            <a:ext cx="457200" cy="274320"/>
          </a:xfrm>
          <a:prstGeom prst="rect">
            <a:avLst/>
          </a:prstGeom>
          <a:noFill/>
        </p:spPr>
        <p:txBody>
          <a:bodyPr wrap="square" lIns="27432" rIns="27432" tIns="27432" bIns="27432" anchor="t">
            <a:spAutoFit/>
          </a:bodyPr>
          <a:lstStyle/>
          <a:p>
            <a:pPr>
              <a:spcAft>
                <a:spcPts val="0"/>
              </a:spcAft>
              <a:defRPr sz="1200" b="1">
                <a:solidFill>
                  <a:srgbClr val="009E97"/>
                </a:solidFill>
                <a:latin typeface="Aptos"/>
              </a:defRPr>
            </a:pPr>
            <a:r>
              <a:t>01</a:t>
            </a:r>
          </a:p>
        </p:txBody>
      </p:sp>
      <p:sp>
        <p:nvSpPr>
          <p:cNvPr id="10" name="TextBox 9"/>
          <p:cNvSpPr txBox="1"/>
          <p:nvPr/>
        </p:nvSpPr>
        <p:spPr>
          <a:xfrm>
            <a:off x="694944" y="1984248"/>
            <a:ext cx="1837943" cy="32004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Write code</a:t>
            </a:r>
          </a:p>
        </p:txBody>
      </p:sp>
      <p:sp>
        <p:nvSpPr>
          <p:cNvPr id="11" name="TextBox 10"/>
          <p:cNvSpPr txBox="1"/>
          <p:nvPr/>
        </p:nvSpPr>
        <p:spPr>
          <a:xfrm>
            <a:off x="694944" y="2404872"/>
            <a:ext cx="1837943" cy="228600"/>
          </a:xfrm>
          <a:prstGeom prst="rect">
            <a:avLst/>
          </a:prstGeom>
          <a:noFill/>
        </p:spPr>
        <p:txBody>
          <a:bodyPr wrap="square" lIns="27432" rIns="27432" tIns="27432" bIns="27432" anchor="t">
            <a:spAutoFit/>
          </a:bodyPr>
          <a:lstStyle/>
          <a:p>
            <a:pPr>
              <a:spcAft>
                <a:spcPts val="0"/>
              </a:spcAft>
              <a:defRPr sz="1100" b="0">
                <a:solidFill>
                  <a:srgbClr val="546979"/>
                </a:solidFill>
                <a:latin typeface="Aptos"/>
              </a:defRPr>
            </a:pPr>
            <a:r>
              <a:t>Django views + tests</a:t>
            </a:r>
          </a:p>
        </p:txBody>
      </p:sp>
      <p:sp>
        <p:nvSpPr>
          <p:cNvPr id="12" name="TextBox 11"/>
          <p:cNvSpPr txBox="1"/>
          <p:nvPr/>
        </p:nvSpPr>
        <p:spPr>
          <a:xfrm>
            <a:off x="2624327" y="1984248"/>
            <a:ext cx="246888" cy="320040"/>
          </a:xfrm>
          <a:prstGeom prst="rect">
            <a:avLst/>
          </a:prstGeom>
          <a:noFill/>
        </p:spPr>
        <p:txBody>
          <a:bodyPr wrap="square" lIns="27432" rIns="27432" tIns="27432" bIns="27432" anchor="t">
            <a:spAutoFit/>
          </a:bodyPr>
          <a:lstStyle/>
          <a:p>
            <a:pPr algn="ctr">
              <a:spcAft>
                <a:spcPts val="0"/>
              </a:spcAft>
              <a:defRPr sz="1800" b="1">
                <a:solidFill>
                  <a:srgbClr val="009E97"/>
                </a:solidFill>
                <a:latin typeface="Aptos"/>
              </a:defRPr>
            </a:pPr>
            <a:r>
              <a:t>→</a:t>
            </a:r>
          </a:p>
        </p:txBody>
      </p:sp>
      <p:sp>
        <p:nvSpPr>
          <p:cNvPr id="13" name="Rounded Rectangle 12"/>
          <p:cNvSpPr/>
          <p:nvPr/>
        </p:nvSpPr>
        <p:spPr>
          <a:xfrm>
            <a:off x="2871215" y="1481328"/>
            <a:ext cx="2084831" cy="1380744"/>
          </a:xfrm>
          <a:prstGeom prst="roundRect">
            <a:avLst/>
          </a:prstGeom>
          <a:solidFill>
            <a:srgbClr val="DDF6F1"/>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26663" y="1664208"/>
            <a:ext cx="457200" cy="274320"/>
          </a:xfrm>
          <a:prstGeom prst="rect">
            <a:avLst/>
          </a:prstGeom>
          <a:noFill/>
        </p:spPr>
        <p:txBody>
          <a:bodyPr wrap="square" lIns="27432" rIns="27432" tIns="27432" bIns="27432" anchor="t">
            <a:spAutoFit/>
          </a:bodyPr>
          <a:lstStyle/>
          <a:p>
            <a:pPr>
              <a:spcAft>
                <a:spcPts val="0"/>
              </a:spcAft>
              <a:defRPr sz="1200" b="1">
                <a:solidFill>
                  <a:srgbClr val="009E97"/>
                </a:solidFill>
                <a:latin typeface="Aptos"/>
              </a:defRPr>
            </a:pPr>
            <a:r>
              <a:t>02</a:t>
            </a:r>
          </a:p>
        </p:txBody>
      </p:sp>
      <p:sp>
        <p:nvSpPr>
          <p:cNvPr id="15" name="TextBox 14"/>
          <p:cNvSpPr txBox="1"/>
          <p:nvPr/>
        </p:nvSpPr>
        <p:spPr>
          <a:xfrm>
            <a:off x="3026663" y="1984248"/>
            <a:ext cx="1837943" cy="32004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Run locally</a:t>
            </a:r>
          </a:p>
        </p:txBody>
      </p:sp>
      <p:sp>
        <p:nvSpPr>
          <p:cNvPr id="16" name="TextBox 15"/>
          <p:cNvSpPr txBox="1"/>
          <p:nvPr/>
        </p:nvSpPr>
        <p:spPr>
          <a:xfrm>
            <a:off x="3026663" y="2404872"/>
            <a:ext cx="1837943" cy="228600"/>
          </a:xfrm>
          <a:prstGeom prst="rect">
            <a:avLst/>
          </a:prstGeom>
          <a:noFill/>
        </p:spPr>
        <p:txBody>
          <a:bodyPr wrap="square" lIns="27432" rIns="27432" tIns="27432" bIns="27432" anchor="t">
            <a:spAutoFit/>
          </a:bodyPr>
          <a:lstStyle/>
          <a:p>
            <a:pPr>
              <a:spcAft>
                <a:spcPts val="0"/>
              </a:spcAft>
              <a:defRPr sz="1100" b="0">
                <a:solidFill>
                  <a:srgbClr val="546979"/>
                </a:solidFill>
                <a:latin typeface="Aptos"/>
              </a:defRPr>
            </a:pPr>
            <a:r>
              <a:t>Same checks as CI</a:t>
            </a:r>
          </a:p>
        </p:txBody>
      </p:sp>
      <p:sp>
        <p:nvSpPr>
          <p:cNvPr id="17" name="TextBox 16"/>
          <p:cNvSpPr txBox="1"/>
          <p:nvPr/>
        </p:nvSpPr>
        <p:spPr>
          <a:xfrm>
            <a:off x="4956048" y="1984248"/>
            <a:ext cx="246888" cy="320040"/>
          </a:xfrm>
          <a:prstGeom prst="rect">
            <a:avLst/>
          </a:prstGeom>
          <a:noFill/>
        </p:spPr>
        <p:txBody>
          <a:bodyPr wrap="square" lIns="27432" rIns="27432" tIns="27432" bIns="27432" anchor="t">
            <a:spAutoFit/>
          </a:bodyPr>
          <a:lstStyle/>
          <a:p>
            <a:pPr algn="ctr">
              <a:spcAft>
                <a:spcPts val="0"/>
              </a:spcAft>
              <a:defRPr sz="1800" b="1">
                <a:solidFill>
                  <a:srgbClr val="009E97"/>
                </a:solidFill>
                <a:latin typeface="Aptos"/>
              </a:defRPr>
            </a:pPr>
            <a:r>
              <a:t>→</a:t>
            </a:r>
          </a:p>
        </p:txBody>
      </p:sp>
      <p:sp>
        <p:nvSpPr>
          <p:cNvPr id="18" name="Rounded Rectangle 17"/>
          <p:cNvSpPr/>
          <p:nvPr/>
        </p:nvSpPr>
        <p:spPr>
          <a:xfrm>
            <a:off x="5202936" y="1481328"/>
            <a:ext cx="2084831" cy="1380744"/>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58383" y="1664208"/>
            <a:ext cx="457200" cy="274320"/>
          </a:xfrm>
          <a:prstGeom prst="rect">
            <a:avLst/>
          </a:prstGeom>
          <a:noFill/>
        </p:spPr>
        <p:txBody>
          <a:bodyPr wrap="square" lIns="27432" rIns="27432" tIns="27432" bIns="27432" anchor="t">
            <a:spAutoFit/>
          </a:bodyPr>
          <a:lstStyle/>
          <a:p>
            <a:pPr>
              <a:spcAft>
                <a:spcPts val="0"/>
              </a:spcAft>
              <a:defRPr sz="1200" b="1">
                <a:solidFill>
                  <a:srgbClr val="009E97"/>
                </a:solidFill>
                <a:latin typeface="Aptos"/>
              </a:defRPr>
            </a:pPr>
            <a:r>
              <a:t>03</a:t>
            </a:r>
          </a:p>
        </p:txBody>
      </p:sp>
      <p:sp>
        <p:nvSpPr>
          <p:cNvPr id="20" name="TextBox 19"/>
          <p:cNvSpPr txBox="1"/>
          <p:nvPr/>
        </p:nvSpPr>
        <p:spPr>
          <a:xfrm>
            <a:off x="5358383" y="1984248"/>
            <a:ext cx="1837943" cy="32004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Push / open PR</a:t>
            </a:r>
          </a:p>
        </p:txBody>
      </p:sp>
      <p:sp>
        <p:nvSpPr>
          <p:cNvPr id="21" name="TextBox 20"/>
          <p:cNvSpPr txBox="1"/>
          <p:nvPr/>
        </p:nvSpPr>
        <p:spPr>
          <a:xfrm>
            <a:off x="5358383" y="2404872"/>
            <a:ext cx="1837943" cy="228600"/>
          </a:xfrm>
          <a:prstGeom prst="rect">
            <a:avLst/>
          </a:prstGeom>
          <a:noFill/>
        </p:spPr>
        <p:txBody>
          <a:bodyPr wrap="square" lIns="27432" rIns="27432" tIns="27432" bIns="27432" anchor="t">
            <a:spAutoFit/>
          </a:bodyPr>
          <a:lstStyle/>
          <a:p>
            <a:pPr>
              <a:spcAft>
                <a:spcPts val="0"/>
              </a:spcAft>
              <a:defRPr sz="1100" b="0">
                <a:solidFill>
                  <a:srgbClr val="546979"/>
                </a:solidFill>
                <a:latin typeface="Aptos"/>
              </a:defRPr>
            </a:pPr>
            <a:r>
              <a:t>main or master</a:t>
            </a:r>
          </a:p>
        </p:txBody>
      </p:sp>
      <p:sp>
        <p:nvSpPr>
          <p:cNvPr id="22" name="TextBox 21"/>
          <p:cNvSpPr txBox="1"/>
          <p:nvPr/>
        </p:nvSpPr>
        <p:spPr>
          <a:xfrm>
            <a:off x="7287767" y="1984248"/>
            <a:ext cx="246888" cy="320040"/>
          </a:xfrm>
          <a:prstGeom prst="rect">
            <a:avLst/>
          </a:prstGeom>
          <a:noFill/>
        </p:spPr>
        <p:txBody>
          <a:bodyPr wrap="square" lIns="27432" rIns="27432" tIns="27432" bIns="27432" anchor="t">
            <a:spAutoFit/>
          </a:bodyPr>
          <a:lstStyle/>
          <a:p>
            <a:pPr algn="ctr">
              <a:spcAft>
                <a:spcPts val="0"/>
              </a:spcAft>
              <a:defRPr sz="1800" b="1">
                <a:solidFill>
                  <a:srgbClr val="009E97"/>
                </a:solidFill>
                <a:latin typeface="Aptos"/>
              </a:defRPr>
            </a:pPr>
            <a:r>
              <a:t>→</a:t>
            </a:r>
          </a:p>
        </p:txBody>
      </p:sp>
      <p:sp>
        <p:nvSpPr>
          <p:cNvPr id="23" name="Rounded Rectangle 22"/>
          <p:cNvSpPr/>
          <p:nvPr/>
        </p:nvSpPr>
        <p:spPr>
          <a:xfrm>
            <a:off x="7534656" y="1481328"/>
            <a:ext cx="2084831" cy="1380744"/>
          </a:xfrm>
          <a:prstGeom prst="roundRect">
            <a:avLst/>
          </a:prstGeom>
          <a:solidFill>
            <a:srgbClr val="DDF6F1"/>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0104" y="1664208"/>
            <a:ext cx="457200" cy="274320"/>
          </a:xfrm>
          <a:prstGeom prst="rect">
            <a:avLst/>
          </a:prstGeom>
          <a:noFill/>
        </p:spPr>
        <p:txBody>
          <a:bodyPr wrap="square" lIns="27432" rIns="27432" tIns="27432" bIns="27432" anchor="t">
            <a:spAutoFit/>
          </a:bodyPr>
          <a:lstStyle/>
          <a:p>
            <a:pPr>
              <a:spcAft>
                <a:spcPts val="0"/>
              </a:spcAft>
              <a:defRPr sz="1200" b="1">
                <a:solidFill>
                  <a:srgbClr val="009E97"/>
                </a:solidFill>
                <a:latin typeface="Aptos"/>
              </a:defRPr>
            </a:pPr>
            <a:r>
              <a:t>04</a:t>
            </a:r>
          </a:p>
        </p:txBody>
      </p:sp>
      <p:sp>
        <p:nvSpPr>
          <p:cNvPr id="25" name="TextBox 24"/>
          <p:cNvSpPr txBox="1"/>
          <p:nvPr/>
        </p:nvSpPr>
        <p:spPr>
          <a:xfrm>
            <a:off x="7690104" y="1984248"/>
            <a:ext cx="1837943" cy="32004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GitHub Actions</a:t>
            </a:r>
          </a:p>
        </p:txBody>
      </p:sp>
      <p:sp>
        <p:nvSpPr>
          <p:cNvPr id="26" name="TextBox 25"/>
          <p:cNvSpPr txBox="1"/>
          <p:nvPr/>
        </p:nvSpPr>
        <p:spPr>
          <a:xfrm>
            <a:off x="7690104" y="2404872"/>
            <a:ext cx="1837943" cy="228600"/>
          </a:xfrm>
          <a:prstGeom prst="rect">
            <a:avLst/>
          </a:prstGeom>
          <a:noFill/>
        </p:spPr>
        <p:txBody>
          <a:bodyPr wrap="square" lIns="27432" rIns="27432" tIns="27432" bIns="27432" anchor="t">
            <a:spAutoFit/>
          </a:bodyPr>
          <a:lstStyle/>
          <a:p>
            <a:pPr>
              <a:spcAft>
                <a:spcPts val="0"/>
              </a:spcAft>
              <a:defRPr sz="1100" b="0">
                <a:solidFill>
                  <a:srgbClr val="546979"/>
                </a:solidFill>
                <a:latin typeface="Aptos"/>
              </a:defRPr>
            </a:pPr>
            <a:r>
              <a:t>Quality job</a:t>
            </a:r>
          </a:p>
        </p:txBody>
      </p:sp>
      <p:sp>
        <p:nvSpPr>
          <p:cNvPr id="27" name="TextBox 26"/>
          <p:cNvSpPr txBox="1"/>
          <p:nvPr/>
        </p:nvSpPr>
        <p:spPr>
          <a:xfrm>
            <a:off x="9619488" y="1984248"/>
            <a:ext cx="246888" cy="320040"/>
          </a:xfrm>
          <a:prstGeom prst="rect">
            <a:avLst/>
          </a:prstGeom>
          <a:noFill/>
        </p:spPr>
        <p:txBody>
          <a:bodyPr wrap="square" lIns="27432" rIns="27432" tIns="27432" bIns="27432" anchor="t">
            <a:spAutoFit/>
          </a:bodyPr>
          <a:lstStyle/>
          <a:p>
            <a:pPr algn="ctr">
              <a:spcAft>
                <a:spcPts val="0"/>
              </a:spcAft>
              <a:defRPr sz="1800" b="1">
                <a:solidFill>
                  <a:srgbClr val="009E97"/>
                </a:solidFill>
                <a:latin typeface="Aptos"/>
              </a:defRPr>
            </a:pPr>
            <a:r>
              <a:t>→</a:t>
            </a:r>
          </a:p>
        </p:txBody>
      </p:sp>
      <p:sp>
        <p:nvSpPr>
          <p:cNvPr id="28" name="Rounded Rectangle 27"/>
          <p:cNvSpPr/>
          <p:nvPr/>
        </p:nvSpPr>
        <p:spPr>
          <a:xfrm>
            <a:off x="9866376" y="1481328"/>
            <a:ext cx="2084831" cy="1380744"/>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21824" y="1664208"/>
            <a:ext cx="457200" cy="274320"/>
          </a:xfrm>
          <a:prstGeom prst="rect">
            <a:avLst/>
          </a:prstGeom>
          <a:noFill/>
        </p:spPr>
        <p:txBody>
          <a:bodyPr wrap="square" lIns="27432" rIns="27432" tIns="27432" bIns="27432" anchor="t">
            <a:spAutoFit/>
          </a:bodyPr>
          <a:lstStyle/>
          <a:p>
            <a:pPr>
              <a:spcAft>
                <a:spcPts val="0"/>
              </a:spcAft>
              <a:defRPr sz="1200" b="1">
                <a:solidFill>
                  <a:srgbClr val="009E97"/>
                </a:solidFill>
                <a:latin typeface="Aptos"/>
              </a:defRPr>
            </a:pPr>
            <a:r>
              <a:t>05</a:t>
            </a:r>
          </a:p>
        </p:txBody>
      </p:sp>
      <p:sp>
        <p:nvSpPr>
          <p:cNvPr id="30" name="TextBox 29"/>
          <p:cNvSpPr txBox="1"/>
          <p:nvPr/>
        </p:nvSpPr>
        <p:spPr>
          <a:xfrm>
            <a:off x="10021824" y="1984248"/>
            <a:ext cx="1837943" cy="320040"/>
          </a:xfrm>
          <a:prstGeom prst="rect">
            <a:avLst/>
          </a:prstGeom>
          <a:noFill/>
        </p:spPr>
        <p:txBody>
          <a:bodyPr wrap="square" lIns="27432" rIns="27432" tIns="27432" bIns="27432" anchor="t">
            <a:spAutoFit/>
          </a:bodyPr>
          <a:lstStyle/>
          <a:p>
            <a:pPr>
              <a:spcAft>
                <a:spcPts val="0"/>
              </a:spcAft>
              <a:defRPr sz="1600" b="1">
                <a:solidFill>
                  <a:srgbClr val="0C1C2F"/>
                </a:solidFill>
                <a:latin typeface="Aptos"/>
              </a:defRPr>
            </a:pPr>
            <a:r>
              <a:t>Fix + push</a:t>
            </a:r>
          </a:p>
        </p:txBody>
      </p:sp>
      <p:sp>
        <p:nvSpPr>
          <p:cNvPr id="31" name="TextBox 30"/>
          <p:cNvSpPr txBox="1"/>
          <p:nvPr/>
        </p:nvSpPr>
        <p:spPr>
          <a:xfrm>
            <a:off x="10021824" y="2404872"/>
            <a:ext cx="1837943" cy="228600"/>
          </a:xfrm>
          <a:prstGeom prst="rect">
            <a:avLst/>
          </a:prstGeom>
          <a:noFill/>
        </p:spPr>
        <p:txBody>
          <a:bodyPr wrap="square" lIns="27432" rIns="27432" tIns="27432" bIns="27432" anchor="t">
            <a:spAutoFit/>
          </a:bodyPr>
          <a:lstStyle/>
          <a:p>
            <a:pPr>
              <a:spcAft>
                <a:spcPts val="0"/>
              </a:spcAft>
              <a:defRPr sz="1100" b="0">
                <a:solidFill>
                  <a:srgbClr val="546979"/>
                </a:solidFill>
                <a:latin typeface="Aptos"/>
              </a:defRPr>
            </a:pPr>
            <a:r>
              <a:t>Checks rerun</a:t>
            </a:r>
          </a:p>
        </p:txBody>
      </p:sp>
      <p:sp>
        <p:nvSpPr>
          <p:cNvPr id="32" name="Rounded Rectangle 31"/>
          <p:cNvSpPr/>
          <p:nvPr/>
        </p:nvSpPr>
        <p:spPr>
          <a:xfrm>
            <a:off x="539496" y="3172968"/>
            <a:ext cx="11119104" cy="2212848"/>
          </a:xfrm>
          <a:prstGeom prst="roundRect">
            <a:avLst/>
          </a:prstGeom>
          <a:solidFill>
            <a:srgbClr val="0C1C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3419856"/>
            <a:ext cx="10607040" cy="283464"/>
          </a:xfrm>
          <a:prstGeom prst="rect">
            <a:avLst/>
          </a:prstGeom>
          <a:noFill/>
        </p:spPr>
        <p:txBody>
          <a:bodyPr wrap="square" lIns="27432" rIns="27432" tIns="27432" bIns="27432" anchor="t">
            <a:spAutoFit/>
          </a:bodyPr>
          <a:lstStyle/>
          <a:p>
            <a:pPr>
              <a:spcAft>
                <a:spcPts val="0"/>
              </a:spcAft>
              <a:defRPr sz="1300" b="1">
                <a:solidFill>
                  <a:srgbClr val="71E2D4"/>
                </a:solidFill>
                <a:latin typeface="Aptos"/>
              </a:defRPr>
            </a:pPr>
            <a:r>
              <a:t>CI STEP ORDER  ·  .github/workflows/quality.yml</a:t>
            </a:r>
          </a:p>
        </p:txBody>
      </p:sp>
      <p:sp>
        <p:nvSpPr>
          <p:cNvPr id="34" name="TextBox 33"/>
          <p:cNvSpPr txBox="1"/>
          <p:nvPr/>
        </p:nvSpPr>
        <p:spPr>
          <a:xfrm>
            <a:off x="804672" y="3913632"/>
            <a:ext cx="10497312" cy="603504"/>
          </a:xfrm>
          <a:prstGeom prst="rect">
            <a:avLst/>
          </a:prstGeom>
          <a:noFill/>
        </p:spPr>
        <p:txBody>
          <a:bodyPr wrap="square" lIns="27432" rIns="27432" tIns="27432" bIns="27432" anchor="t">
            <a:spAutoFit/>
          </a:bodyPr>
          <a:lstStyle/>
          <a:p>
            <a:pPr>
              <a:spcAft>
                <a:spcPts val="0"/>
              </a:spcAft>
              <a:defRPr sz="1800" b="1">
                <a:solidFill>
                  <a:srgbClr val="FFFFFF"/>
                </a:solidFill>
                <a:latin typeface="Aptos"/>
              </a:defRPr>
            </a:pPr>
            <a:r>
              <a:t>Install both requirements  →  Ruff lint  →  Ruff format --check  →  Mypy  →  Django check  →  Tests</a:t>
            </a:r>
          </a:p>
        </p:txBody>
      </p:sp>
      <p:sp>
        <p:nvSpPr>
          <p:cNvPr id="35" name="TextBox 34"/>
          <p:cNvSpPr txBox="1"/>
          <p:nvPr/>
        </p:nvSpPr>
        <p:spPr>
          <a:xfrm>
            <a:off x="804672" y="4818888"/>
            <a:ext cx="10488168" cy="301752"/>
          </a:xfrm>
          <a:prstGeom prst="rect">
            <a:avLst/>
          </a:prstGeom>
          <a:noFill/>
        </p:spPr>
        <p:txBody>
          <a:bodyPr wrap="square" lIns="27432" rIns="27432" tIns="27432" bIns="27432" anchor="t">
            <a:spAutoFit/>
          </a:bodyPr>
          <a:lstStyle/>
          <a:p>
            <a:pPr>
              <a:spcAft>
                <a:spcPts val="0"/>
              </a:spcAft>
              <a:defRPr sz="1300" b="0">
                <a:solidFill>
                  <a:srgbClr val="C5D6E2"/>
                </a:solidFill>
                <a:latin typeface="Aptos"/>
              </a:defRPr>
            </a:pPr>
            <a:r>
              <a:t>Triggers: push and pull_request targeting main or master  ·  Ubuntu + Python 3.14</a:t>
            </a:r>
          </a:p>
        </p:txBody>
      </p:sp>
      <p:sp>
        <p:nvSpPr>
          <p:cNvPr id="36" name="Rounded Rectangle 35"/>
          <p:cNvSpPr/>
          <p:nvPr/>
        </p:nvSpPr>
        <p:spPr>
          <a:xfrm>
            <a:off x="548640" y="5696712"/>
            <a:ext cx="11091672" cy="356616"/>
          </a:xfrm>
          <a:prstGeom prst="roundRect">
            <a:avLst/>
          </a:prstGeom>
          <a:solidFill>
            <a:srgbClr val="DD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774436"/>
            <a:ext cx="10872216" cy="201168"/>
          </a:xfrm>
          <a:prstGeom prst="rect">
            <a:avLst/>
          </a:prstGeom>
          <a:noFill/>
        </p:spPr>
        <p:txBody>
          <a:bodyPr wrap="square" lIns="27432" rIns="27432" tIns="27432" bIns="27432" anchor="t">
            <a:spAutoFit/>
          </a:bodyPr>
          <a:lstStyle/>
          <a:p>
            <a:pPr>
              <a:spcAft>
                <a:spcPts val="0"/>
              </a:spcAft>
              <a:defRPr sz="1100" b="1">
                <a:solidFill>
                  <a:srgbClr val="192B3C"/>
                </a:solidFill>
                <a:latin typeface="Aptos"/>
              </a:defRPr>
            </a:pPr>
            <a:r>
              <a:t>Local fixes: ruff check . --fix   |   ruff format .   |   edit type annotation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6583680" cy="246888"/>
          </a:xfrm>
          <a:prstGeom prst="rect">
            <a:avLst/>
          </a:prstGeom>
          <a:noFill/>
        </p:spPr>
        <p:txBody>
          <a:bodyPr wrap="square" lIns="27432" rIns="27432" tIns="27432" bIns="27432" anchor="t">
            <a:spAutoFit/>
          </a:bodyPr>
          <a:lstStyle/>
          <a:p>
            <a:pPr>
              <a:spcAft>
                <a:spcPts val="0"/>
              </a:spcAft>
              <a:defRPr sz="1000" b="1">
                <a:solidFill>
                  <a:srgbClr val="009E97"/>
                </a:solidFill>
                <a:latin typeface="Aptos"/>
              </a:defRPr>
            </a:pPr>
            <a:r>
              <a:t>DJANGO CODE QUALITY</a:t>
            </a:r>
          </a:p>
        </p:txBody>
      </p:sp>
      <p:sp>
        <p:nvSpPr>
          <p:cNvPr id="4" name="TextBox 3"/>
          <p:cNvSpPr txBox="1"/>
          <p:nvPr/>
        </p:nvSpPr>
        <p:spPr>
          <a:xfrm>
            <a:off x="502920" y="649224"/>
            <a:ext cx="11155680" cy="530352"/>
          </a:xfrm>
          <a:prstGeom prst="rect">
            <a:avLst/>
          </a:prstGeom>
          <a:noFill/>
        </p:spPr>
        <p:txBody>
          <a:bodyPr wrap="square" lIns="27432" rIns="27432" tIns="27432" bIns="27432" anchor="t">
            <a:spAutoFit/>
          </a:bodyPr>
          <a:lstStyle/>
          <a:p>
            <a:pPr>
              <a:spcAft>
                <a:spcPts val="0"/>
              </a:spcAft>
              <a:defRPr sz="2800" b="1">
                <a:solidFill>
                  <a:srgbClr val="0C1C2F"/>
                </a:solidFill>
                <a:latin typeface="Aptos"/>
              </a:defRPr>
            </a:pPr>
            <a:r>
              <a:t>Reuse the pattern; keep the feedback loop short</a:t>
            </a:r>
          </a:p>
        </p:txBody>
      </p:sp>
      <p:sp>
        <p:nvSpPr>
          <p:cNvPr id="5" name="Rectangle 4"/>
          <p:cNvSpPr/>
          <p:nvPr/>
        </p:nvSpPr>
        <p:spPr>
          <a:xfrm>
            <a:off x="502920" y="6419088"/>
            <a:ext cx="11183112" cy="11887"/>
          </a:xfrm>
          <a:prstGeom prst="rect">
            <a:avLst/>
          </a:prstGeom>
          <a:solidFill>
            <a:srgbClr val="DA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7315200" cy="201168"/>
          </a:xfrm>
          <a:prstGeom prst="rect">
            <a:avLst/>
          </a:prstGeom>
          <a:noFill/>
        </p:spPr>
        <p:txBody>
          <a:bodyPr wrap="square" lIns="27432" rIns="27432" tIns="27432" bIns="27432" anchor="t">
            <a:spAutoFit/>
          </a:bodyPr>
          <a:lstStyle/>
          <a:p>
            <a:pPr>
              <a:spcAft>
                <a:spcPts val="0"/>
              </a:spcAft>
              <a:defRPr sz="900" b="0">
                <a:solidFill>
                  <a:srgbClr val="546979"/>
                </a:solidFill>
                <a:latin typeface="Aptos"/>
              </a:defRPr>
            </a:pPr>
            <a:r>
              <a:t>SOURCE: project repository  •  October 2026</a:t>
            </a:r>
          </a:p>
        </p:txBody>
      </p:sp>
      <p:sp>
        <p:nvSpPr>
          <p:cNvPr id="7" name="TextBox 6"/>
          <p:cNvSpPr txBox="1"/>
          <p:nvPr/>
        </p:nvSpPr>
        <p:spPr>
          <a:xfrm>
            <a:off x="10744200" y="6510528"/>
            <a:ext cx="914400" cy="201168"/>
          </a:xfrm>
          <a:prstGeom prst="rect">
            <a:avLst/>
          </a:prstGeom>
          <a:noFill/>
        </p:spPr>
        <p:txBody>
          <a:bodyPr wrap="square" lIns="27432" rIns="27432" tIns="27432" bIns="27432" anchor="t">
            <a:spAutoFit/>
          </a:bodyPr>
          <a:lstStyle/>
          <a:p>
            <a:pPr algn="r">
              <a:spcAft>
                <a:spcPts val="0"/>
              </a:spcAft>
              <a:defRPr sz="900" b="0">
                <a:solidFill>
                  <a:srgbClr val="546979"/>
                </a:solidFill>
                <a:latin typeface="Aptos"/>
              </a:defRPr>
            </a:pPr>
            <a:r>
              <a:t>06 / 06</a:t>
            </a:r>
          </a:p>
        </p:txBody>
      </p:sp>
      <p:sp>
        <p:nvSpPr>
          <p:cNvPr id="8" name="Rounded Rectangle 7"/>
          <p:cNvSpPr/>
          <p:nvPr/>
        </p:nvSpPr>
        <p:spPr>
          <a:xfrm>
            <a:off x="530352" y="1408176"/>
            <a:ext cx="5394960" cy="4453128"/>
          </a:xfrm>
          <a:prstGeom prst="roundRect">
            <a:avLst/>
          </a:prstGeom>
          <a:solidFill>
            <a:srgbClr val="FFFFFF"/>
          </a:solidFill>
          <a:ln w="12700">
            <a:solidFill>
              <a:srgbClr val="DA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700784"/>
            <a:ext cx="4855464" cy="365760"/>
          </a:xfrm>
          <a:prstGeom prst="rect">
            <a:avLst/>
          </a:prstGeom>
          <a:noFill/>
        </p:spPr>
        <p:txBody>
          <a:bodyPr wrap="square" lIns="27432" rIns="27432" tIns="27432" bIns="27432" anchor="t">
            <a:spAutoFit/>
          </a:bodyPr>
          <a:lstStyle/>
          <a:p>
            <a:pPr>
              <a:spcAft>
                <a:spcPts val="0"/>
              </a:spcAft>
              <a:defRPr sz="2000" b="1">
                <a:solidFill>
                  <a:srgbClr val="0C1C2F"/>
                </a:solidFill>
                <a:latin typeface="Aptos"/>
              </a:defRPr>
            </a:pPr>
            <a:r>
              <a:t>Adopt in another Django project</a:t>
            </a:r>
          </a:p>
        </p:txBody>
      </p:sp>
      <p:sp>
        <p:nvSpPr>
          <p:cNvPr id="10" name="TextBox 9"/>
          <p:cNvSpPr txBox="1"/>
          <p:nvPr/>
        </p:nvSpPr>
        <p:spPr>
          <a:xfrm>
            <a:off x="813816" y="2313432"/>
            <a:ext cx="4709160" cy="438912"/>
          </a:xfrm>
          <a:prstGeom prst="rect">
            <a:avLst/>
          </a:prstGeom>
          <a:noFill/>
        </p:spPr>
        <p:txBody>
          <a:bodyPr wrap="square" lIns="27432" rIns="27432" tIns="27432" bIns="27432" anchor="t">
            <a:spAutoFit/>
          </a:bodyPr>
          <a:lstStyle/>
          <a:p>
            <a:pPr>
              <a:spcAft>
                <a:spcPts val="0"/>
              </a:spcAft>
              <a:defRPr sz="1500" b="0">
                <a:solidFill>
                  <a:srgbClr val="192B3C"/>
                </a:solidFill>
                <a:latin typeface="Aptos"/>
              </a:defRPr>
            </a:pPr>
            <a:r>
              <a:t>1  Add Ruff, Mypy, and django-stubs as quality deps</a:t>
            </a:r>
          </a:p>
        </p:txBody>
      </p:sp>
      <p:sp>
        <p:nvSpPr>
          <p:cNvPr id="11" name="TextBox 10"/>
          <p:cNvSpPr txBox="1"/>
          <p:nvPr/>
        </p:nvSpPr>
        <p:spPr>
          <a:xfrm>
            <a:off x="813816" y="2935224"/>
            <a:ext cx="4709160" cy="438912"/>
          </a:xfrm>
          <a:prstGeom prst="rect">
            <a:avLst/>
          </a:prstGeom>
          <a:noFill/>
        </p:spPr>
        <p:txBody>
          <a:bodyPr wrap="square" lIns="27432" rIns="27432" tIns="27432" bIns="27432" anchor="t">
            <a:spAutoFit/>
          </a:bodyPr>
          <a:lstStyle/>
          <a:p>
            <a:pPr>
              <a:spcAft>
                <a:spcPts val="0"/>
              </a:spcAft>
              <a:defRPr sz="1500" b="0">
                <a:solidFill>
                  <a:srgbClr val="192B3C"/>
                </a:solidFill>
                <a:latin typeface="Aptos"/>
              </a:defRPr>
            </a:pPr>
            <a:r>
              <a:t>2  Set Python version, rule set, and Django settings</a:t>
            </a:r>
          </a:p>
        </p:txBody>
      </p:sp>
      <p:sp>
        <p:nvSpPr>
          <p:cNvPr id="12" name="TextBox 11"/>
          <p:cNvSpPr txBox="1"/>
          <p:nvPr/>
        </p:nvSpPr>
        <p:spPr>
          <a:xfrm>
            <a:off x="813816" y="3557015"/>
            <a:ext cx="4709160" cy="438912"/>
          </a:xfrm>
          <a:prstGeom prst="rect">
            <a:avLst/>
          </a:prstGeom>
          <a:noFill/>
        </p:spPr>
        <p:txBody>
          <a:bodyPr wrap="square" lIns="27432" rIns="27432" tIns="27432" bIns="27432" anchor="t">
            <a:spAutoFit/>
          </a:bodyPr>
          <a:lstStyle/>
          <a:p>
            <a:pPr>
              <a:spcAft>
                <a:spcPts val="0"/>
              </a:spcAft>
              <a:defRPr sz="1500" b="0">
                <a:solidFill>
                  <a:srgbClr val="192B3C"/>
                </a:solidFill>
                <a:latin typeface="Aptos"/>
              </a:defRPr>
            </a:pPr>
            <a:r>
              <a:t>3  Run lint, format, types, Django checks, tests locally</a:t>
            </a:r>
          </a:p>
        </p:txBody>
      </p:sp>
      <p:sp>
        <p:nvSpPr>
          <p:cNvPr id="13" name="TextBox 12"/>
          <p:cNvSpPr txBox="1"/>
          <p:nvPr/>
        </p:nvSpPr>
        <p:spPr>
          <a:xfrm>
            <a:off x="813816" y="4178808"/>
            <a:ext cx="4709160" cy="438912"/>
          </a:xfrm>
          <a:prstGeom prst="rect">
            <a:avLst/>
          </a:prstGeom>
          <a:noFill/>
        </p:spPr>
        <p:txBody>
          <a:bodyPr wrap="square" lIns="27432" rIns="27432" tIns="27432" bIns="27432" anchor="t">
            <a:spAutoFit/>
          </a:bodyPr>
          <a:lstStyle/>
          <a:p>
            <a:pPr>
              <a:spcAft>
                <a:spcPts val="0"/>
              </a:spcAft>
              <a:defRPr sz="1500" b="0">
                <a:solidFill>
                  <a:srgbClr val="192B3C"/>
                </a:solidFill>
                <a:latin typeface="Aptos"/>
              </a:defRPr>
            </a:pPr>
            <a:r>
              <a:t>4  Add the same commands to a push / PR workflow</a:t>
            </a:r>
          </a:p>
        </p:txBody>
      </p:sp>
      <p:sp>
        <p:nvSpPr>
          <p:cNvPr id="14" name="TextBox 13"/>
          <p:cNvSpPr txBox="1"/>
          <p:nvPr/>
        </p:nvSpPr>
        <p:spPr>
          <a:xfrm>
            <a:off x="813816" y="4800600"/>
            <a:ext cx="4709160" cy="438912"/>
          </a:xfrm>
          <a:prstGeom prst="rect">
            <a:avLst/>
          </a:prstGeom>
          <a:noFill/>
        </p:spPr>
        <p:txBody>
          <a:bodyPr wrap="square" lIns="27432" rIns="27432" tIns="27432" bIns="27432" anchor="t">
            <a:spAutoFit/>
          </a:bodyPr>
          <a:lstStyle/>
          <a:p>
            <a:pPr>
              <a:spcAft>
                <a:spcPts val="0"/>
              </a:spcAft>
              <a:defRPr sz="1500" b="0">
                <a:solidFill>
                  <a:srgbClr val="192B3C"/>
                </a:solidFill>
                <a:latin typeface="Aptos"/>
              </a:defRPr>
            </a:pPr>
            <a:r>
              <a:t>5  Fix existing findings in manageable batches</a:t>
            </a:r>
          </a:p>
        </p:txBody>
      </p:sp>
      <p:sp>
        <p:nvSpPr>
          <p:cNvPr id="15" name="Rounded Rectangle 14"/>
          <p:cNvSpPr/>
          <p:nvPr/>
        </p:nvSpPr>
        <p:spPr>
          <a:xfrm>
            <a:off x="6172200" y="1408176"/>
            <a:ext cx="5495544" cy="4453128"/>
          </a:xfrm>
          <a:prstGeom prst="roundRect">
            <a:avLst/>
          </a:prstGeom>
          <a:solidFill>
            <a:srgbClr val="DD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1700784"/>
            <a:ext cx="4946904" cy="365760"/>
          </a:xfrm>
          <a:prstGeom prst="rect">
            <a:avLst/>
          </a:prstGeom>
          <a:noFill/>
        </p:spPr>
        <p:txBody>
          <a:bodyPr wrap="square" lIns="27432" rIns="27432" tIns="27432" bIns="27432" anchor="t">
            <a:spAutoFit/>
          </a:bodyPr>
          <a:lstStyle/>
          <a:p>
            <a:pPr>
              <a:spcAft>
                <a:spcPts val="0"/>
              </a:spcAft>
              <a:defRPr sz="2000" b="1">
                <a:solidFill>
                  <a:srgbClr val="0C1C2F"/>
                </a:solidFill>
                <a:latin typeface="Aptos"/>
              </a:defRPr>
            </a:pPr>
            <a:r>
              <a:t>What the team gains</a:t>
            </a:r>
          </a:p>
        </p:txBody>
      </p:sp>
      <p:sp>
        <p:nvSpPr>
          <p:cNvPr id="17" name="Rounded Rectangle 16"/>
          <p:cNvSpPr/>
          <p:nvPr/>
        </p:nvSpPr>
        <p:spPr>
          <a:xfrm>
            <a:off x="6455664" y="2322576"/>
            <a:ext cx="91440" cy="91440"/>
          </a:xfrm>
          <a:prstGeom prst="round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84264" y="2258568"/>
            <a:ext cx="4608576" cy="493776"/>
          </a:xfrm>
          <a:prstGeom prst="rect">
            <a:avLst/>
          </a:prstGeom>
          <a:noFill/>
        </p:spPr>
        <p:txBody>
          <a:bodyPr wrap="square" lIns="27432" rIns="27432" tIns="27432" bIns="27432" anchor="t">
            <a:spAutoFit/>
          </a:bodyPr>
          <a:lstStyle/>
          <a:p>
            <a:pPr>
              <a:spcAft>
                <a:spcPts val="0"/>
              </a:spcAft>
              <a:defRPr sz="1600" b="0">
                <a:solidFill>
                  <a:srgbClr val="192B3C"/>
                </a:solidFill>
                <a:latin typeface="Aptos"/>
              </a:defRPr>
            </a:pPr>
            <a:r>
              <a:t>Consistent code without style debates</a:t>
            </a:r>
          </a:p>
        </p:txBody>
      </p:sp>
      <p:sp>
        <p:nvSpPr>
          <p:cNvPr id="19" name="Rounded Rectangle 18"/>
          <p:cNvSpPr/>
          <p:nvPr/>
        </p:nvSpPr>
        <p:spPr>
          <a:xfrm>
            <a:off x="6455664" y="3035808"/>
            <a:ext cx="91440" cy="91440"/>
          </a:xfrm>
          <a:prstGeom prst="round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84264" y="2971800"/>
            <a:ext cx="4608576" cy="493776"/>
          </a:xfrm>
          <a:prstGeom prst="rect">
            <a:avLst/>
          </a:prstGeom>
          <a:noFill/>
        </p:spPr>
        <p:txBody>
          <a:bodyPr wrap="square" lIns="27432" rIns="27432" tIns="27432" bIns="27432" anchor="t">
            <a:spAutoFit/>
          </a:bodyPr>
          <a:lstStyle/>
          <a:p>
            <a:pPr>
              <a:spcAft>
                <a:spcPts val="0"/>
              </a:spcAft>
              <a:defRPr sz="1600" b="0">
                <a:solidFill>
                  <a:srgbClr val="192B3C"/>
                </a:solidFill>
                <a:latin typeface="Aptos"/>
              </a:defRPr>
            </a:pPr>
            <a:r>
              <a:t>Less manual review of mechanical issues</a:t>
            </a:r>
          </a:p>
        </p:txBody>
      </p:sp>
      <p:sp>
        <p:nvSpPr>
          <p:cNvPr id="21" name="Rounded Rectangle 20"/>
          <p:cNvSpPr/>
          <p:nvPr/>
        </p:nvSpPr>
        <p:spPr>
          <a:xfrm>
            <a:off x="6455664" y="3749039"/>
            <a:ext cx="91440" cy="91440"/>
          </a:xfrm>
          <a:prstGeom prst="round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84264" y="3685032"/>
            <a:ext cx="4608576" cy="493776"/>
          </a:xfrm>
          <a:prstGeom prst="rect">
            <a:avLst/>
          </a:prstGeom>
          <a:noFill/>
        </p:spPr>
        <p:txBody>
          <a:bodyPr wrap="square" lIns="27432" rIns="27432" tIns="27432" bIns="27432" anchor="t">
            <a:spAutoFit/>
          </a:bodyPr>
          <a:lstStyle/>
          <a:p>
            <a:pPr>
              <a:spcAft>
                <a:spcPts val="0"/>
              </a:spcAft>
              <a:defRPr sz="1600" b="0">
                <a:solidFill>
                  <a:srgbClr val="192B3C"/>
                </a:solidFill>
                <a:latin typeface="Aptos"/>
              </a:defRPr>
            </a:pPr>
            <a:r>
              <a:t>Early detection of unused code and type mistakes</a:t>
            </a:r>
          </a:p>
        </p:txBody>
      </p:sp>
      <p:sp>
        <p:nvSpPr>
          <p:cNvPr id="23" name="Rounded Rectangle 22"/>
          <p:cNvSpPr/>
          <p:nvPr/>
        </p:nvSpPr>
        <p:spPr>
          <a:xfrm>
            <a:off x="6455664" y="4462272"/>
            <a:ext cx="91440" cy="91440"/>
          </a:xfrm>
          <a:prstGeom prst="roundRect">
            <a:avLst/>
          </a:prstGeom>
          <a:solidFill>
            <a:srgbClr val="009E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84264" y="4398264"/>
            <a:ext cx="4608576" cy="493776"/>
          </a:xfrm>
          <a:prstGeom prst="rect">
            <a:avLst/>
          </a:prstGeom>
          <a:noFill/>
        </p:spPr>
        <p:txBody>
          <a:bodyPr wrap="square" lIns="27432" rIns="27432" tIns="27432" bIns="27432" anchor="t">
            <a:spAutoFit/>
          </a:bodyPr>
          <a:lstStyle/>
          <a:p>
            <a:pPr>
              <a:spcAft>
                <a:spcPts val="0"/>
              </a:spcAft>
              <a:defRPr sz="1600" b="0">
                <a:solidFill>
                  <a:srgbClr val="192B3C"/>
                </a:solidFill>
                <a:latin typeface="Aptos"/>
              </a:defRPr>
            </a:pPr>
            <a:r>
              <a:t>A repeatable standard for backend changes</a:t>
            </a:r>
          </a:p>
        </p:txBody>
      </p:sp>
      <p:sp>
        <p:nvSpPr>
          <p:cNvPr id="25" name="TextBox 24"/>
          <p:cNvSpPr txBox="1"/>
          <p:nvPr/>
        </p:nvSpPr>
        <p:spPr>
          <a:xfrm>
            <a:off x="667512" y="6007608"/>
            <a:ext cx="10844784" cy="283464"/>
          </a:xfrm>
          <a:prstGeom prst="rect">
            <a:avLst/>
          </a:prstGeom>
          <a:noFill/>
        </p:spPr>
        <p:txBody>
          <a:bodyPr wrap="square" lIns="27432" rIns="27432" tIns="27432" bIns="27432" anchor="t">
            <a:spAutoFit/>
          </a:bodyPr>
          <a:lstStyle/>
          <a:p>
            <a:pPr>
              <a:spcAft>
                <a:spcPts val="0"/>
              </a:spcAft>
              <a:defRPr sz="1300" b="0">
                <a:solidFill>
                  <a:srgbClr val="546979"/>
                </a:solidFill>
                <a:latin typeface="Aptos"/>
              </a:defRPr>
            </a:pPr>
            <a:r>
              <a:t>Start with the project’s current baseline; keep exclusions and ignored rules deliberate.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